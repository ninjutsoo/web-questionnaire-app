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8b370e69dd4663" /><Relationship Type="http://schemas.openxmlformats.org/officeDocument/2006/relationships/extended-properties" Target="/docProps/app.xml" Id="R11b577ad697846ad" /><Relationship Type="http://schemas.openxmlformats.org/officeDocument/2006/relationships/officeDocument" Target="/ppt/presentation.xml" Id="R7256a2628c4e4082" /></Relationships>
</file>

<file path=ppt/presentation.xml><?xml version="1.0" encoding="utf-8"?>
<p:presentation xmlns:p="http://schemas.openxmlformats.org/presentationml/2006/main">
  <p:sldMasterIdLst>
    <p:sldMasterId xmlns:r="http://schemas.openxmlformats.org/officeDocument/2006/relationships" id="2147483648" r:id="Ra8dfc59dcd5d4287"/>
  </p:sldMasterIdLst>
  <p:notesMasterIdLst>
    <p:notesMasterId xmlns:r="http://schemas.openxmlformats.org/officeDocument/2006/relationships" r:id="Rfe21cc41cebb4b82"/>
  </p:notesMasterIdLst>
  <p:sldIdLst>
    <p:sldId xmlns:r="http://schemas.openxmlformats.org/officeDocument/2006/relationships" id="256" r:id="R19271f1d0a534084"/>
    <p:sldId xmlns:r="http://schemas.openxmlformats.org/officeDocument/2006/relationships" id="257" r:id="Raae072c0d4c040df"/>
    <p:sldId xmlns:r="http://schemas.openxmlformats.org/officeDocument/2006/relationships" id="258" r:id="R1662fb715c3247b5"/>
    <p:sldId xmlns:r="http://schemas.openxmlformats.org/officeDocument/2006/relationships" id="259" r:id="R8ba4e5603b43417c"/>
    <p:sldId xmlns:r="http://schemas.openxmlformats.org/officeDocument/2006/relationships" id="260" r:id="R619d2c21f9a24ce6"/>
    <p:sldId xmlns:r="http://schemas.openxmlformats.org/officeDocument/2006/relationships" id="261" r:id="R5575268a4e2c4e22"/>
    <p:sldId xmlns:r="http://schemas.openxmlformats.org/officeDocument/2006/relationships" id="262" r:id="R9910251b8b4d4ac1"/>
    <p:sldId xmlns:r="http://schemas.openxmlformats.org/officeDocument/2006/relationships" id="263" r:id="R6c1f7c8fe9f34c4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cffdc9a25aa4f2d" /><Relationship Type="http://schemas.openxmlformats.org/officeDocument/2006/relationships/slideMaster" Target="/ppt/slideMasters/slideMaster1.xml" Id="Ra8dfc59dcd5d4287" /><Relationship Type="http://schemas.openxmlformats.org/officeDocument/2006/relationships/notesMaster" Target="/ppt/notesMasters/notesMaster1.xml" Id="Rfe21cc41cebb4b82" /><Relationship Type="http://schemas.openxmlformats.org/officeDocument/2006/relationships/presProps" Target="/ppt/presProps.xml" Id="Rb3f6c1f4261242ad" /><Relationship Type="http://schemas.openxmlformats.org/officeDocument/2006/relationships/viewProps" Target="/ppt/viewProps.xml" Id="R48e2a47f99574d15" /><Relationship Type="http://schemas.openxmlformats.org/officeDocument/2006/relationships/tableStyles" Target="/ppt/tableStyles.xml" Id="R84ccd3d119654bf2" /><Relationship Type="http://schemas.openxmlformats.org/officeDocument/2006/relationships/slide" Target="/ppt/slides/slide1.xml" Id="R19271f1d0a534084" /><Relationship Type="http://schemas.openxmlformats.org/officeDocument/2006/relationships/slide" Target="/ppt/slides/slide2.xml" Id="Raae072c0d4c040df" /><Relationship Type="http://schemas.openxmlformats.org/officeDocument/2006/relationships/slide" Target="/ppt/slides/slide3.xml" Id="R1662fb715c3247b5" /><Relationship Type="http://schemas.openxmlformats.org/officeDocument/2006/relationships/slide" Target="/ppt/slides/slide4.xml" Id="R8ba4e5603b43417c" /><Relationship Type="http://schemas.openxmlformats.org/officeDocument/2006/relationships/slide" Target="/ppt/slides/slide5.xml" Id="R619d2c21f9a24ce6" /><Relationship Type="http://schemas.openxmlformats.org/officeDocument/2006/relationships/slide" Target="/ppt/slides/slide6.xml" Id="R5575268a4e2c4e22" /><Relationship Type="http://schemas.openxmlformats.org/officeDocument/2006/relationships/slide" Target="/ppt/slides/slide7.xml" Id="R9910251b8b4d4ac1" /><Relationship Type="http://schemas.openxmlformats.org/officeDocument/2006/relationships/slide" Target="/ppt/slides/slide8.xml" Id="R6c1f7c8fe9f34c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82d128014849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bfd34f866f4966" /><Relationship Type="http://schemas.openxmlformats.org/officeDocument/2006/relationships/notesMaster" Target="/ppt/notesMasters/notesMaster1.xml" Id="Rf87ead0d960446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d34a5516114cd9" /><Relationship Type="http://schemas.openxmlformats.org/officeDocument/2006/relationships/notesMaster" Target="/ppt/notesMasters/notesMaster1.xml" Id="R7413f19bda1446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ff7c8e9a3d4861" /><Relationship Type="http://schemas.openxmlformats.org/officeDocument/2006/relationships/notesMaster" Target="/ppt/notesMasters/notesMaster1.xml" Id="Re190766b112d4d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b9379559c241b5" /><Relationship Type="http://schemas.openxmlformats.org/officeDocument/2006/relationships/notesMaster" Target="/ppt/notesMasters/notesMaster1.xml" Id="R7caed35c213742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7abb7290b04edd" /><Relationship Type="http://schemas.openxmlformats.org/officeDocument/2006/relationships/notesMaster" Target="/ppt/notesMasters/notesMaster1.xml" Id="R126b0c12cc054c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70f5e94aab467f" /><Relationship Type="http://schemas.openxmlformats.org/officeDocument/2006/relationships/notesMaster" Target="/ppt/notesMasters/notesMaster1.xml" Id="Ra8e3c726b60642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27dcd85e4940d9" /><Relationship Type="http://schemas.openxmlformats.org/officeDocument/2006/relationships/notesMaster" Target="/ppt/notesMasters/notesMaster1.xml" Id="R46f9429071884c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fd2694c05741c9" /><Relationship Type="http://schemas.openxmlformats.org/officeDocument/2006/relationships/notesMaster" Target="/ppt/notesMasters/notesMaster1.xml" Id="R008791da498c46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not trying to summarize every detail of every paper. It focuses on what is closest to our 4Ms questionnaire and AI assistant project. The key message is that the first paper is the strongest methodological match because it uses simulated patients to measure AI risk. The second paper gives useful persona design ideas. The third paper is useful mainly for how to frame a small system/usability study without overclaiming.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filter. Paper 1 is close because it evaluates a target conversational healthcare AI system with simulated patients. That maps directly to our AI assistant. Paper 2 is useful, but its emergency-department and differential-diagnosis focus is not our workflow. Paper 3 is even less close on the domain side, but it is helpful because it shows how to publish a web prototype with a small formative study and avoid inflated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1 is the closest fit. It built simulated patients with three layers: medical facts, linguistic expression, and behavior. Then the target AI had to interact with those patients. This is exactly the structure we need, except our target AI is the 4Ms app assistant and our task is not antidepressant selection. We should adapt the evaluation logic: can the AI stay safe, clear, personalized, and grounded when the same 4Ms facts are expressed by users with lower health literacy, memory uncertainty, anxiety, distraction, or reluctance?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2 is not a direct app match because it is built for emergency department history taking and differential diagnosis. But its persona framework is very useful. We can adapt personality, language proficiency, recall, and confusion into older-adult 4Ms simulations. For example, one simulated user might report medication issues clearly. Another has the same medication facts but says, “I forget that little white pill sometimes.” That lets us test whether our AI assistant handles equivalent information fairly across communication styles.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3 is useful because it shows a realistic publication pattern for a small prototype: user-centered development, a small SUS usability study, expert ratings, and careful limitations. The exact domain is not close enough to copy: it is a medical education simulator, not an older-adult 4Ms self-report app. The adaptation is mostly in presentation and research discipline: call early findings formative, report small-sample evidence honestly, and describe future validation clearly.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practical filter for writing and study design. We should not import claims or tasks that are outside the implemented product. The app is not an antidepressant decision aid, not an ED diagnostic simulator, and not a medical education platform. What we can import is the evaluation structure: controlled simulated users, measured AI response quality, persona variation, and human/LLM scoring.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concrete adaptation. We create simulated 4Ms users, vary their communication profile, generate questionnaire context and chat questions, call the existing backend, and score responses. Metrics should be safety, grounding in the user's 4Ms data, clarity, personalization, non-overreach, and whether urgent cues are handled correctly. This would make the project more publishable because it produces evidence, not just a feature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clean recommendation is to make the paper about measured AI risk and formative usability. First build the simulation benchmark, then run the existing AI assistant against it, then score responses, then validate with a small older-adult usability study. This gives us a real publication argument: we are not claiming clinical outcomes, but we are showing a practical method for evaluating whether questionnaire-grounded AI support remains safe and understandable for realistic older-adult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36d36e5bee48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6e8af73fc7486b" /><Relationship Type="http://schemas.openxmlformats.org/officeDocument/2006/relationships/slideLayout" Target="/ppt/slideLayouts/slideLayout1.xml" Id="Rcb03a07ce94341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03a07ce94341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228a0994044974" /><Relationship Type="http://schemas.openxmlformats.org/officeDocument/2006/relationships/notesSlide" Target="/ppt/notesSlides/notesSlide1.xml" Id="R08bc124ca6d145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2fb3b52bfe48ca" /><Relationship Type="http://schemas.openxmlformats.org/officeDocument/2006/relationships/notesSlide" Target="/ppt/notesSlides/notesSlide2.xml" Id="Rda77c67c11eb44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9460e256c24a2e" /><Relationship Type="http://schemas.openxmlformats.org/officeDocument/2006/relationships/notesSlide" Target="/ppt/notesSlides/notesSlide3.xml" Id="Rd3196fe7a25248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01fc21aa514b39" /><Relationship Type="http://schemas.openxmlformats.org/officeDocument/2006/relationships/notesSlide" Target="/ppt/notesSlides/notesSlide4.xml" Id="Rec61fcc92cb048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ab0a78cb4d4179" /><Relationship Type="http://schemas.openxmlformats.org/officeDocument/2006/relationships/notesSlide" Target="/ppt/notesSlides/notesSlide5.xml" Id="R058194ed49a84a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4c431883eb4eef" /><Relationship Type="http://schemas.openxmlformats.org/officeDocument/2006/relationships/notesSlide" Target="/ppt/notesSlides/notesSlide6.xml" Id="Rab9b634374d844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9b7d943b814d2b" /><Relationship Type="http://schemas.openxmlformats.org/officeDocument/2006/relationships/notesSlide" Target="/ppt/notesSlides/notesSlide7.xml" Id="R5f71357f31084e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4e3ab43cb94ff6" /><Relationship Type="http://schemas.openxmlformats.org/officeDocument/2006/relationships/notesSlide" Target="/ppt/notesSlides/notesSlide8.xml" Id="R976030712b0f417e" /></Relationships>
</file>

<file path=ppt/slides/slide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FC9916-4DE1-4FA5-9AE9-3EF8D3811CBA}"/>
              </a:ext>
            </a:extLst>
          </p:cNvPr>
          <p:cNvSpPr>
            <a:spLocks xmlns:a="http://schemas.openxmlformats.org/drawingml/2006/main" noGrp="1"/>
          </p:cNvSpPr>
          <p:nvPr/>
        </p:nvSpPr>
        <p:spPr>
          <a:xfrm xmlns:a="http://schemas.openxmlformats.org/drawingml/2006/main">
            <a:off x="609600" y="514350"/>
            <a:ext cx="2247900" cy="323850"/>
          </a:xfrm>
          <a:prstGeom xmlns:a="http://schemas.openxmlformats.org/drawingml/2006/main" prst="rect">
            <a:avLst/>
          </a:prstGeom>
          <a:solidFill xmlns:a="http://schemas.openxmlformats.org/drawingml/2006/main">
            <a:srgbClr val="285C7D"/>
          </a:solidFill>
          <a:ln xmlns:a="http://schemas.openxmlformats.org/drawingml/2006/main" w="0">
            <a:solidFill>
              <a:srgbClr val="285C7D"/>
            </a:solidFill>
            <a:prstDash val="solid"/>
          </a:ln>
        </p:spPr>
      </p:sp>
      <p:sp>
        <p:nvSpPr>
          <p:cNvPr id="2" name="">
            <a:extLst xmlns:a="http://schemas.openxmlformats.org/drawingml/2006/main">
              <a:ext uri="{FF2B5EF4-FFF2-40B4-BE49-F238E27FC236}">
                <a16:creationId xmlns:a16="http://schemas.microsoft.com/office/drawing/2014/main" id="{66006746-A1D5-48DD-8553-6E5263E45A89}"/>
              </a:ext>
            </a:extLst>
          </p:cNvPr>
          <p:cNvSpPr>
            <a:spLocks xmlns:a="http://schemas.openxmlformats.org/drawingml/2006/main" noGrp="1"/>
          </p:cNvSpPr>
          <p:nvPr/>
        </p:nvSpPr>
        <p:spPr>
          <a:xfrm xmlns:a="http://schemas.openxmlformats.org/drawingml/2006/main">
            <a:off x="723900" y="581025"/>
            <a:ext cx="2019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PATIENT SIMULATION WORKS</a:t>
            </a:r>
          </a:p>
        </p:txBody>
      </p:sp>
      <p:sp>
        <p:nvSpPr>
          <p:cNvPr id="3" name="">
            <a:extLst xmlns:a="http://schemas.openxmlformats.org/drawingml/2006/main">
              <a:ext uri="{FF2B5EF4-FFF2-40B4-BE49-F238E27FC236}">
                <a16:creationId xmlns:a16="http://schemas.microsoft.com/office/drawing/2014/main" id="{A30E0CD3-09D8-46A7-B082-82C404C04B51}"/>
              </a:ext>
            </a:extLst>
          </p:cNvPr>
          <p:cNvSpPr>
            <a:spLocks xmlns:a="http://schemas.openxmlformats.org/drawingml/2006/main" noGrp="1"/>
          </p:cNvSpPr>
          <p:nvPr/>
        </p:nvSpPr>
        <p:spPr>
          <a:xfrm xmlns:a="http://schemas.openxmlformats.org/drawingml/2006/main">
            <a:off x="609600" y="125730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17212B"/>
                </a:solidFill>
                <a:latin typeface="Aptos Display"/>
                <a:ea typeface="Aptos Display"/>
                <a:cs typeface="Aptos Display"/>
              </a:defRPr>
            </a:pPr>
            <a:r>
              <a:rPr sz="3600" b="1">
                <a:solidFill>
                  <a:srgbClr val="17212B"/>
                </a:solidFill>
                <a:latin typeface="Aptos Display"/>
                <a:ea typeface="Aptos Display"/>
                <a:cs typeface="Aptos Display"/>
              </a:rPr>
              <a:t>What prior work gives us</a:t>
            </a:r>
          </a:p>
        </p:txBody>
      </p:sp>
      <p:sp>
        <p:nvSpPr>
          <p:cNvPr id="4" name="">
            <a:extLst xmlns:a="http://schemas.openxmlformats.org/drawingml/2006/main">
              <a:ext uri="{FF2B5EF4-FFF2-40B4-BE49-F238E27FC236}">
                <a16:creationId xmlns:a16="http://schemas.microsoft.com/office/drawing/2014/main" id="{21B0B7F5-9671-4967-9EF5-0C9F307698DC}"/>
              </a:ext>
            </a:extLst>
          </p:cNvPr>
          <p:cNvSpPr>
            <a:spLocks xmlns:a="http://schemas.openxmlformats.org/drawingml/2006/main" noGrp="1"/>
          </p:cNvSpPr>
          <p:nvPr/>
        </p:nvSpPr>
        <p:spPr>
          <a:xfrm xmlns:a="http://schemas.openxmlformats.org/drawingml/2006/main">
            <a:off x="609600" y="1885950"/>
            <a:ext cx="6858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B85C38"/>
                </a:solidFill>
                <a:latin typeface="Aptos Display"/>
                <a:ea typeface="Aptos Display"/>
                <a:cs typeface="Aptos Display"/>
              </a:defRPr>
            </a:pPr>
            <a:r>
              <a:rPr sz="2700" b="1">
                <a:solidFill>
                  <a:srgbClr val="B85C38"/>
                </a:solidFill>
                <a:latin typeface="Aptos Display"/>
                <a:ea typeface="Aptos Display"/>
                <a:cs typeface="Aptos Display"/>
              </a:rPr>
              <a:t>and what we should actually adapt</a:t>
            </a:r>
          </a:p>
        </p:txBody>
      </p:sp>
      <p:sp>
        <p:nvSpPr>
          <p:cNvPr id="5" name="">
            <a:extLst xmlns:a="http://schemas.openxmlformats.org/drawingml/2006/main">
              <a:ext uri="{FF2B5EF4-FFF2-40B4-BE49-F238E27FC236}">
                <a16:creationId xmlns:a16="http://schemas.microsoft.com/office/drawing/2014/main" id="{27D30C37-6924-4FE9-8F3D-1BE79094791F}"/>
              </a:ext>
            </a:extLst>
          </p:cNvPr>
          <p:cNvSpPr>
            <a:spLocks xmlns:a="http://schemas.openxmlformats.org/drawingml/2006/main" noGrp="1"/>
          </p:cNvSpPr>
          <p:nvPr/>
        </p:nvSpPr>
        <p:spPr>
          <a:xfrm xmlns:a="http://schemas.openxmlformats.org/drawingml/2006/main">
            <a:off x="666750" y="3009900"/>
            <a:ext cx="10382250" cy="19050"/>
          </a:xfrm>
          <a:prstGeom xmlns:a="http://schemas.openxmlformats.org/drawingml/2006/main" prst="rect">
            <a:avLst/>
          </a:prstGeom>
          <a:solidFill xmlns:a="http://schemas.openxmlformats.org/drawingml/2006/main">
            <a:srgbClr val="D8D0C2"/>
          </a:solidFill>
          <a:ln xmlns:a="http://schemas.openxmlformats.org/drawingml/2006/main" w="0">
            <a:solidFill>
              <a:srgbClr val="D8D0C2"/>
            </a:solidFill>
            <a:prstDash val="solid"/>
          </a:ln>
        </p:spPr>
      </p:sp>
      <p:sp>
        <p:nvSpPr>
          <p:cNvPr id="6" name="">
            <a:extLst xmlns:a="http://schemas.openxmlformats.org/drawingml/2006/main">
              <a:ext uri="{FF2B5EF4-FFF2-40B4-BE49-F238E27FC236}">
                <a16:creationId xmlns:a16="http://schemas.microsoft.com/office/drawing/2014/main" id="{87BF8E9D-9239-4979-BECE-A07E3C79278B}"/>
              </a:ext>
            </a:extLst>
          </p:cNvPr>
          <p:cNvSpPr>
            <a:spLocks xmlns:a="http://schemas.openxmlformats.org/drawingml/2006/main" noGrp="1"/>
          </p:cNvSpPr>
          <p:nvPr/>
        </p:nvSpPr>
        <p:spPr>
          <a:xfrm xmlns:a="http://schemas.openxmlformats.org/drawingml/2006/main">
            <a:off x="876300" y="3524250"/>
            <a:ext cx="819150" cy="81915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7" name="">
            <a:extLst xmlns:a="http://schemas.openxmlformats.org/drawingml/2006/main">
              <a:ext uri="{FF2B5EF4-FFF2-40B4-BE49-F238E27FC236}">
                <a16:creationId xmlns:a16="http://schemas.microsoft.com/office/drawing/2014/main" id="{B82B4430-EEAC-444C-9D19-0F0DD0EDBD1A}"/>
              </a:ext>
            </a:extLst>
          </p:cNvPr>
          <p:cNvSpPr>
            <a:spLocks xmlns:a="http://schemas.openxmlformats.org/drawingml/2006/main" noGrp="1"/>
          </p:cNvSpPr>
          <p:nvPr/>
        </p:nvSpPr>
        <p:spPr>
          <a:xfrm xmlns:a="http://schemas.openxmlformats.org/drawingml/2006/main">
            <a:off x="876300" y="3676650"/>
            <a:ext cx="819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450" b="1">
                <a:solidFill>
                  <a:srgbClr val="FFFFFF"/>
                </a:solidFill>
                <a:latin typeface="Aptos"/>
                <a:ea typeface="Aptos"/>
                <a:cs typeface="Aptos"/>
              </a:defRPr>
            </a:pPr>
            <a:r>
              <a:rPr sz="345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CC5B5716-BB24-4DA2-AA89-A3D1553332CB}"/>
              </a:ext>
            </a:extLst>
          </p:cNvPr>
          <p:cNvSpPr>
            <a:spLocks xmlns:a="http://schemas.openxmlformats.org/drawingml/2006/main" noGrp="1"/>
          </p:cNvSpPr>
          <p:nvPr/>
        </p:nvSpPr>
        <p:spPr>
          <a:xfrm xmlns:a="http://schemas.openxmlformats.org/drawingml/2006/main">
            <a:off x="1924050" y="354330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7D78"/>
                </a:solidFill>
                <a:latin typeface="Aptos"/>
                <a:ea typeface="Aptos"/>
                <a:cs typeface="Aptos"/>
              </a:defRPr>
            </a:pPr>
            <a:r>
              <a:rPr sz="1350" b="1">
                <a:solidFill>
                  <a:srgbClr val="2F7D78"/>
                </a:solidFill>
                <a:latin typeface="Aptos"/>
                <a:ea typeface="Aptos"/>
                <a:cs typeface="Aptos"/>
              </a:rPr>
              <a:t>Closest</a:t>
            </a:r>
          </a:p>
        </p:txBody>
      </p:sp>
      <p:sp>
        <p:nvSpPr>
          <p:cNvPr id="9" name="">
            <a:extLst xmlns:a="http://schemas.openxmlformats.org/drawingml/2006/main">
              <a:ext uri="{FF2B5EF4-FFF2-40B4-BE49-F238E27FC236}">
                <a16:creationId xmlns:a16="http://schemas.microsoft.com/office/drawing/2014/main" id="{1681F03C-BB5E-4001-B87B-18FB28047DDC}"/>
              </a:ext>
            </a:extLst>
          </p:cNvPr>
          <p:cNvSpPr>
            <a:spLocks xmlns:a="http://schemas.openxmlformats.org/drawingml/2006/main" noGrp="1"/>
          </p:cNvSpPr>
          <p:nvPr/>
        </p:nvSpPr>
        <p:spPr>
          <a:xfrm xmlns:a="http://schemas.openxmlformats.org/drawingml/2006/main">
            <a:off x="1924050" y="3829050"/>
            <a:ext cx="2238375"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12B"/>
                </a:solidFill>
                <a:latin typeface="Aptos"/>
                <a:ea typeface="Aptos"/>
                <a:cs typeface="Aptos"/>
              </a:defRPr>
            </a:pPr>
            <a:r>
              <a:rPr sz="1800" b="1">
                <a:solidFill>
                  <a:srgbClr val="17212B"/>
                </a:solidFill>
                <a:latin typeface="Aptos"/>
                <a:ea typeface="Aptos"/>
                <a:cs typeface="Aptos"/>
              </a:rPr>
              <a:t>NIST risk assessment simulator</a:t>
            </a:r>
          </a:p>
        </p:txBody>
      </p:sp>
      <p:sp>
        <p:nvSpPr>
          <p:cNvPr id="10" name="">
            <a:extLst xmlns:a="http://schemas.openxmlformats.org/drawingml/2006/main">
              <a:ext uri="{FF2B5EF4-FFF2-40B4-BE49-F238E27FC236}">
                <a16:creationId xmlns:a16="http://schemas.microsoft.com/office/drawing/2014/main" id="{0C2F30DC-8AD5-4B4C-96DC-83E6E295316B}"/>
              </a:ext>
            </a:extLst>
          </p:cNvPr>
          <p:cNvSpPr>
            <a:spLocks xmlns:a="http://schemas.openxmlformats.org/drawingml/2006/main" noGrp="1"/>
          </p:cNvSpPr>
          <p:nvPr/>
        </p:nvSpPr>
        <p:spPr>
          <a:xfrm xmlns:a="http://schemas.openxmlformats.org/drawingml/2006/main">
            <a:off x="4305300" y="3524250"/>
            <a:ext cx="819150" cy="819150"/>
          </a:xfrm>
          <a:prstGeom xmlns:a="http://schemas.openxmlformats.org/drawingml/2006/main" prst="rect">
            <a:avLst/>
          </a:prstGeom>
          <a:solidFill xmlns:a="http://schemas.openxmlformats.org/drawingml/2006/main">
            <a:srgbClr val="D19A2A"/>
          </a:solidFill>
          <a:ln xmlns:a="http://schemas.openxmlformats.org/drawingml/2006/main" w="0">
            <a:solidFill>
              <a:srgbClr val="D19A2A"/>
            </a:solidFill>
            <a:prstDash val="solid"/>
          </a:ln>
        </p:spPr>
      </p:sp>
      <p:sp>
        <p:nvSpPr>
          <p:cNvPr id="11" name="">
            <a:extLst xmlns:a="http://schemas.openxmlformats.org/drawingml/2006/main">
              <a:ext uri="{FF2B5EF4-FFF2-40B4-BE49-F238E27FC236}">
                <a16:creationId xmlns:a16="http://schemas.microsoft.com/office/drawing/2014/main" id="{C7064EF7-C377-46C5-9A8B-BB3D2C4DC84D}"/>
              </a:ext>
            </a:extLst>
          </p:cNvPr>
          <p:cNvSpPr>
            <a:spLocks xmlns:a="http://schemas.openxmlformats.org/drawingml/2006/main" noGrp="1"/>
          </p:cNvSpPr>
          <p:nvPr/>
        </p:nvSpPr>
        <p:spPr>
          <a:xfrm xmlns:a="http://schemas.openxmlformats.org/drawingml/2006/main">
            <a:off x="4305300" y="3676650"/>
            <a:ext cx="819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450" b="1">
                <a:solidFill>
                  <a:srgbClr val="FFFFFF"/>
                </a:solidFill>
                <a:latin typeface="Aptos"/>
                <a:ea typeface="Aptos"/>
                <a:cs typeface="Aptos"/>
              </a:defRPr>
            </a:pPr>
            <a:r>
              <a:rPr sz="3450"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CF8B33DD-6A5D-4A21-85C2-1DF0FA5928B4}"/>
              </a:ext>
            </a:extLst>
          </p:cNvPr>
          <p:cNvSpPr>
            <a:spLocks xmlns:a="http://schemas.openxmlformats.org/drawingml/2006/main" noGrp="1"/>
          </p:cNvSpPr>
          <p:nvPr/>
        </p:nvSpPr>
        <p:spPr>
          <a:xfrm xmlns:a="http://schemas.openxmlformats.org/drawingml/2006/main">
            <a:off x="5353050" y="354330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19A2A"/>
                </a:solidFill>
                <a:latin typeface="Aptos"/>
                <a:ea typeface="Aptos"/>
                <a:cs typeface="Aptos"/>
              </a:defRPr>
            </a:pPr>
            <a:r>
              <a:rPr sz="1350" b="1">
                <a:solidFill>
                  <a:srgbClr val="D19A2A"/>
                </a:solidFill>
                <a:latin typeface="Aptos"/>
                <a:ea typeface="Aptos"/>
                <a:cs typeface="Aptos"/>
              </a:rPr>
              <a:t>Useful</a:t>
            </a:r>
          </a:p>
        </p:txBody>
      </p:sp>
      <p:sp>
        <p:nvSpPr>
          <p:cNvPr id="13" name="">
            <a:extLst xmlns:a="http://schemas.openxmlformats.org/drawingml/2006/main">
              <a:ext uri="{FF2B5EF4-FFF2-40B4-BE49-F238E27FC236}">
                <a16:creationId xmlns:a16="http://schemas.microsoft.com/office/drawing/2014/main" id="{3EB140D1-1152-41DC-88B6-C2268B6A504C}"/>
              </a:ext>
            </a:extLst>
          </p:cNvPr>
          <p:cNvSpPr>
            <a:spLocks xmlns:a="http://schemas.openxmlformats.org/drawingml/2006/main" noGrp="1"/>
          </p:cNvSpPr>
          <p:nvPr/>
        </p:nvSpPr>
        <p:spPr>
          <a:xfrm xmlns:a="http://schemas.openxmlformats.org/drawingml/2006/main">
            <a:off x="5353050" y="3829050"/>
            <a:ext cx="2238375"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12B"/>
                </a:solidFill>
                <a:latin typeface="Aptos"/>
                <a:ea typeface="Aptos"/>
                <a:cs typeface="Aptos"/>
              </a:defRPr>
            </a:pPr>
            <a:r>
              <a:rPr sz="1800" b="1">
                <a:solidFill>
                  <a:srgbClr val="17212B"/>
                </a:solidFill>
                <a:latin typeface="Aptos"/>
                <a:ea typeface="Aptos"/>
                <a:cs typeface="Aptos"/>
              </a:rPr>
              <a:t>Persona axes for realistic older adults</a:t>
            </a:r>
          </a:p>
        </p:txBody>
      </p:sp>
      <p:sp>
        <p:nvSpPr>
          <p:cNvPr id="14" name="">
            <a:extLst xmlns:a="http://schemas.openxmlformats.org/drawingml/2006/main">
              <a:ext uri="{FF2B5EF4-FFF2-40B4-BE49-F238E27FC236}">
                <a16:creationId xmlns:a16="http://schemas.microsoft.com/office/drawing/2014/main" id="{45D59549-137F-41EC-971C-BD81B6048F40}"/>
              </a:ext>
            </a:extLst>
          </p:cNvPr>
          <p:cNvSpPr>
            <a:spLocks xmlns:a="http://schemas.openxmlformats.org/drawingml/2006/main" noGrp="1"/>
          </p:cNvSpPr>
          <p:nvPr/>
        </p:nvSpPr>
        <p:spPr>
          <a:xfrm xmlns:a="http://schemas.openxmlformats.org/drawingml/2006/main">
            <a:off x="7734300" y="3524250"/>
            <a:ext cx="819150" cy="819150"/>
          </a:xfrm>
          <a:prstGeom xmlns:a="http://schemas.openxmlformats.org/drawingml/2006/main" prst="rect">
            <a:avLst/>
          </a:prstGeom>
          <a:solidFill xmlns:a="http://schemas.openxmlformats.org/drawingml/2006/main">
            <a:srgbClr val="B85C38"/>
          </a:solidFill>
          <a:ln xmlns:a="http://schemas.openxmlformats.org/drawingml/2006/main" w="0">
            <a:solidFill>
              <a:srgbClr val="B85C38"/>
            </a:solidFill>
            <a:prstDash val="solid"/>
          </a:ln>
        </p:spPr>
      </p:sp>
      <p:sp>
        <p:nvSpPr>
          <p:cNvPr id="15" name="">
            <a:extLst xmlns:a="http://schemas.openxmlformats.org/drawingml/2006/main">
              <a:ext uri="{FF2B5EF4-FFF2-40B4-BE49-F238E27FC236}">
                <a16:creationId xmlns:a16="http://schemas.microsoft.com/office/drawing/2014/main" id="{3983989B-68D4-466A-A341-7DAEBD5CA29F}"/>
              </a:ext>
            </a:extLst>
          </p:cNvPr>
          <p:cNvSpPr>
            <a:spLocks xmlns:a="http://schemas.openxmlformats.org/drawingml/2006/main" noGrp="1"/>
          </p:cNvSpPr>
          <p:nvPr/>
        </p:nvSpPr>
        <p:spPr>
          <a:xfrm xmlns:a="http://schemas.openxmlformats.org/drawingml/2006/main">
            <a:off x="7734300" y="3676650"/>
            <a:ext cx="819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450" b="1">
                <a:solidFill>
                  <a:srgbClr val="FFFFFF"/>
                </a:solidFill>
                <a:latin typeface="Aptos"/>
                <a:ea typeface="Aptos"/>
                <a:cs typeface="Aptos"/>
              </a:defRPr>
            </a:pPr>
            <a:r>
              <a:rPr sz="3450"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2858D262-5EFE-473D-B5FE-B4F8FB74D273}"/>
              </a:ext>
            </a:extLst>
          </p:cNvPr>
          <p:cNvSpPr>
            <a:spLocks xmlns:a="http://schemas.openxmlformats.org/drawingml/2006/main" noGrp="1"/>
          </p:cNvSpPr>
          <p:nvPr/>
        </p:nvSpPr>
        <p:spPr>
          <a:xfrm xmlns:a="http://schemas.openxmlformats.org/drawingml/2006/main">
            <a:off x="8782050" y="354330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85C38"/>
                </a:solidFill>
                <a:latin typeface="Aptos"/>
                <a:ea typeface="Aptos"/>
                <a:cs typeface="Aptos"/>
              </a:defRPr>
            </a:pPr>
            <a:r>
              <a:rPr sz="1350" b="1">
                <a:solidFill>
                  <a:srgbClr val="B85C38"/>
                </a:solidFill>
                <a:latin typeface="Aptos"/>
                <a:ea typeface="Aptos"/>
                <a:cs typeface="Aptos"/>
              </a:rPr>
              <a:t>Helpful</a:t>
            </a:r>
          </a:p>
        </p:txBody>
      </p:sp>
      <p:sp>
        <p:nvSpPr>
          <p:cNvPr id="17" name="">
            <a:extLst xmlns:a="http://schemas.openxmlformats.org/drawingml/2006/main">
              <a:ext uri="{FF2B5EF4-FFF2-40B4-BE49-F238E27FC236}">
                <a16:creationId xmlns:a16="http://schemas.microsoft.com/office/drawing/2014/main" id="{766EED5F-CE9D-4BBE-8E5B-922650EE09F9}"/>
              </a:ext>
            </a:extLst>
          </p:cNvPr>
          <p:cNvSpPr>
            <a:spLocks xmlns:a="http://schemas.openxmlformats.org/drawingml/2006/main" noGrp="1"/>
          </p:cNvSpPr>
          <p:nvPr/>
        </p:nvSpPr>
        <p:spPr>
          <a:xfrm xmlns:a="http://schemas.openxmlformats.org/drawingml/2006/main">
            <a:off x="8782050" y="3829050"/>
            <a:ext cx="2238375"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12B"/>
                </a:solidFill>
                <a:latin typeface="Aptos"/>
                <a:ea typeface="Aptos"/>
                <a:cs typeface="Aptos"/>
              </a:defRPr>
            </a:pPr>
            <a:r>
              <a:rPr sz="1800" b="1">
                <a:solidFill>
                  <a:srgbClr val="17212B"/>
                </a:solidFill>
                <a:latin typeface="Aptos"/>
                <a:ea typeface="Aptos"/>
                <a:cs typeface="Aptos"/>
              </a:rPr>
              <a:t>Formative usability writing model</a:t>
            </a:r>
          </a:p>
        </p:txBody>
      </p:sp>
      <p:sp>
        <p:nvSpPr>
          <p:cNvPr id="18" name="">
            <a:extLst xmlns:a="http://schemas.openxmlformats.org/drawingml/2006/main">
              <a:ext uri="{FF2B5EF4-FFF2-40B4-BE49-F238E27FC236}">
                <a16:creationId xmlns:a16="http://schemas.microsoft.com/office/drawing/2014/main" id="{481A79BE-7ABE-4EC2-8EB3-146B14246548}"/>
              </a:ext>
            </a:extLst>
          </p:cNvPr>
          <p:cNvSpPr>
            <a:spLocks xmlns:a="http://schemas.openxmlformats.org/drawingml/2006/main" noGrp="1"/>
          </p:cNvSpPr>
          <p:nvPr/>
        </p:nvSpPr>
        <p:spPr>
          <a:xfrm xmlns:a="http://schemas.openxmlformats.org/drawingml/2006/main">
            <a:off x="609600" y="5905500"/>
            <a:ext cx="9906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B6673"/>
                </a:solidFill>
                <a:latin typeface="Aptos"/>
                <a:ea typeface="Aptos"/>
                <a:cs typeface="Aptos"/>
              </a:defRPr>
            </a:pPr>
            <a:r>
              <a:rPr sz="1650" b="0">
                <a:solidFill>
                  <a:srgbClr val="5B6673"/>
                </a:solidFill>
                <a:latin typeface="Aptos"/>
                <a:ea typeface="Aptos"/>
                <a:cs typeface="Aptos"/>
              </a:rPr>
              <a:t>Goal: turn the 4Ms app from a prototype into a measurable research contribution.</a:t>
            </a:r>
          </a:p>
        </p:txBody>
      </p:sp>
    </p:spTree>
    <p:extLst>
      <p:ext uri="{BB962C8B-B14F-4D97-AF65-F5344CB8AC3E}">
        <p14:creationId xmlns:p14="http://schemas.microsoft.com/office/powerpoint/2010/main" val="1707217960"/>
      </p:ext>
    </p:extLst>
  </p:cSld>
</p:sld>
</file>

<file path=ppt/slides/slide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D476E3B-6B8C-4D7D-B3C0-A4A594345F45}"/>
              </a:ext>
            </a:extLst>
          </p:cNvPr>
          <p:cNvSpPr>
            <a:spLocks xmlns:a="http://schemas.openxmlformats.org/drawingml/2006/main" noGrp="1"/>
          </p:cNvSpPr>
          <p:nvPr/>
        </p:nvSpPr>
        <p:spPr>
          <a:xfrm xmlns:a="http://schemas.openxmlformats.org/drawingml/2006/main">
            <a:off x="609600" y="419100"/>
            <a:ext cx="1238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285C7D"/>
                </a:solidFill>
                <a:latin typeface="Aptos"/>
                <a:ea typeface="Aptos"/>
                <a:cs typeface="Aptos"/>
              </a:defRPr>
            </a:pPr>
            <a:r>
              <a:rPr sz="1050" b="1">
                <a:solidFill>
                  <a:srgbClr val="285C7D"/>
                </a:solidFill>
                <a:latin typeface="Aptos"/>
                <a:ea typeface="Aptos"/>
                <a:cs typeface="Aptos"/>
              </a:rPr>
              <a:t>FIT MAP</a:t>
            </a:r>
          </a:p>
        </p:txBody>
      </p:sp>
      <p:sp>
        <p:nvSpPr>
          <p:cNvPr id="2" name="">
            <a:extLst xmlns:a="http://schemas.openxmlformats.org/drawingml/2006/main">
              <a:ext uri="{FF2B5EF4-FFF2-40B4-BE49-F238E27FC236}">
                <a16:creationId xmlns:a16="http://schemas.microsoft.com/office/drawing/2014/main" id="{FE173131-B437-4D62-9F37-16C2D24F061D}"/>
              </a:ext>
            </a:extLst>
          </p:cNvPr>
          <p:cNvSpPr>
            <a:spLocks xmlns:a="http://schemas.openxmlformats.org/drawingml/2006/main" noGrp="1"/>
          </p:cNvSpPr>
          <p:nvPr/>
        </p:nvSpPr>
        <p:spPr>
          <a:xfrm xmlns:a="http://schemas.openxmlformats.org/drawingml/2006/main">
            <a:off x="609600" y="723900"/>
            <a:ext cx="7810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7212B"/>
                </a:solidFill>
                <a:latin typeface="Aptos Display"/>
                <a:ea typeface="Aptos Display"/>
                <a:cs typeface="Aptos Display"/>
              </a:defRPr>
            </a:pPr>
            <a:r>
              <a:rPr sz="2850" b="1">
                <a:solidFill>
                  <a:srgbClr val="17212B"/>
                </a:solidFill>
                <a:latin typeface="Aptos Display"/>
                <a:ea typeface="Aptos Display"/>
                <a:cs typeface="Aptos Display"/>
              </a:rPr>
              <a:t>Only one paper is a direct methods match.</a:t>
            </a:r>
          </a:p>
        </p:txBody>
      </p:sp>
      <p:sp>
        <p:nvSpPr>
          <p:cNvPr id="3" name="">
            <a:extLst xmlns:a="http://schemas.openxmlformats.org/drawingml/2006/main">
              <a:ext uri="{FF2B5EF4-FFF2-40B4-BE49-F238E27FC236}">
                <a16:creationId xmlns:a16="http://schemas.microsoft.com/office/drawing/2014/main" id="{E52919F8-9C2D-482B-BB4B-84BE902F9798}"/>
              </a:ext>
            </a:extLst>
          </p:cNvPr>
          <p:cNvSpPr>
            <a:spLocks xmlns:a="http://schemas.openxmlformats.org/drawingml/2006/main" noGrp="1"/>
          </p:cNvSpPr>
          <p:nvPr/>
        </p:nvSpPr>
        <p:spPr>
          <a:xfrm xmlns:a="http://schemas.openxmlformats.org/drawingml/2006/main">
            <a:off x="609600" y="1200150"/>
            <a:ext cx="571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B6673"/>
                </a:solidFill>
                <a:latin typeface="Aptos"/>
                <a:ea typeface="Aptos"/>
                <a:cs typeface="Aptos"/>
              </a:defRPr>
            </a:pPr>
            <a:r>
              <a:rPr sz="1650" b="0">
                <a:solidFill>
                  <a:srgbClr val="5B6673"/>
                </a:solidFill>
                <a:latin typeface="Aptos"/>
                <a:ea typeface="Aptos"/>
                <a:cs typeface="Aptos"/>
              </a:rPr>
              <a:t>The others should be borrowed selectively.</a:t>
            </a:r>
          </a:p>
        </p:txBody>
      </p:sp>
      <p:sp>
        <p:nvSpPr>
          <p:cNvPr id="4" name="">
            <a:extLst xmlns:a="http://schemas.openxmlformats.org/drawingml/2006/main">
              <a:ext uri="{FF2B5EF4-FFF2-40B4-BE49-F238E27FC236}">
                <a16:creationId xmlns:a16="http://schemas.microsoft.com/office/drawing/2014/main" id="{CB7F5C68-1D35-4CA3-941D-37E30044E53C}"/>
              </a:ext>
            </a:extLst>
          </p:cNvPr>
          <p:cNvSpPr>
            <a:spLocks xmlns:a="http://schemas.openxmlformats.org/drawingml/2006/main" noGrp="1"/>
          </p:cNvSpPr>
          <p:nvPr/>
        </p:nvSpPr>
        <p:spPr>
          <a:xfrm xmlns:a="http://schemas.openxmlformats.org/drawingml/2006/main">
            <a:off x="1143000" y="1885950"/>
            <a:ext cx="2095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2F7D78"/>
                </a:solidFill>
                <a:latin typeface="Aptos"/>
                <a:ea typeface="Aptos"/>
                <a:cs typeface="Aptos"/>
              </a:defRPr>
            </a:pPr>
            <a:r>
              <a:rPr sz="1350" b="1">
                <a:solidFill>
                  <a:srgbClr val="2F7D78"/>
                </a:solidFill>
                <a:latin typeface="Aptos"/>
                <a:ea typeface="Aptos"/>
                <a:cs typeface="Aptos"/>
              </a:rPr>
              <a:t>Closest to our app</a:t>
            </a:r>
          </a:p>
        </p:txBody>
      </p:sp>
      <p:sp>
        <p:nvSpPr>
          <p:cNvPr id="5" name="">
            <a:extLst xmlns:a="http://schemas.openxmlformats.org/drawingml/2006/main">
              <a:ext uri="{FF2B5EF4-FFF2-40B4-BE49-F238E27FC236}">
                <a16:creationId xmlns:a16="http://schemas.microsoft.com/office/drawing/2014/main" id="{A32CFC2E-660B-41D3-B303-A2EAC3781A82}"/>
              </a:ext>
            </a:extLst>
          </p:cNvPr>
          <p:cNvSpPr>
            <a:spLocks xmlns:a="http://schemas.openxmlformats.org/drawingml/2006/main" noGrp="1"/>
          </p:cNvSpPr>
          <p:nvPr/>
        </p:nvSpPr>
        <p:spPr>
          <a:xfrm xmlns:a="http://schemas.openxmlformats.org/drawingml/2006/main">
            <a:off x="8477250" y="1885950"/>
            <a:ext cx="1524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B85C38"/>
                </a:solidFill>
                <a:latin typeface="Aptos"/>
                <a:ea typeface="Aptos"/>
                <a:cs typeface="Aptos"/>
              </a:defRPr>
            </a:pPr>
            <a:r>
              <a:rPr sz="1350" b="1">
                <a:solidFill>
                  <a:srgbClr val="B85C38"/>
                </a:solidFill>
                <a:latin typeface="Aptos"/>
                <a:ea typeface="Aptos"/>
                <a:cs typeface="Aptos"/>
              </a:rPr>
              <a:t>Less direct</a:t>
            </a:r>
          </a:p>
        </p:txBody>
      </p:sp>
      <p:sp>
        <p:nvSpPr>
          <p:cNvPr id="6" name="">
            <a:extLst xmlns:a="http://schemas.openxmlformats.org/drawingml/2006/main">
              <a:ext uri="{FF2B5EF4-FFF2-40B4-BE49-F238E27FC236}">
                <a16:creationId xmlns:a16="http://schemas.microsoft.com/office/drawing/2014/main" id="{ED6AB0AC-4DCF-49BE-A337-35C256957689}"/>
              </a:ext>
            </a:extLst>
          </p:cNvPr>
          <p:cNvSpPr>
            <a:spLocks xmlns:a="http://schemas.openxmlformats.org/drawingml/2006/main" noGrp="1"/>
          </p:cNvSpPr>
          <p:nvPr/>
        </p:nvSpPr>
        <p:spPr>
          <a:xfrm xmlns:a="http://schemas.openxmlformats.org/drawingml/2006/main">
            <a:off x="1714500" y="2362200"/>
            <a:ext cx="8001000" cy="57150"/>
          </a:xfrm>
          <a:prstGeom xmlns:a="http://schemas.openxmlformats.org/drawingml/2006/main" prst="rect">
            <a:avLst/>
          </a:prstGeom>
          <a:solidFill xmlns:a="http://schemas.openxmlformats.org/drawingml/2006/main">
            <a:srgbClr val="D8D0C2"/>
          </a:solidFill>
          <a:ln xmlns:a="http://schemas.openxmlformats.org/drawingml/2006/main" w="0">
            <a:solidFill>
              <a:srgbClr val="D8D0C2"/>
            </a:solidFill>
            <a:prstDash val="solid"/>
          </a:ln>
        </p:spPr>
      </p:sp>
      <p:sp>
        <p:nvSpPr>
          <p:cNvPr id="7" name="">
            <a:extLst xmlns:a="http://schemas.openxmlformats.org/drawingml/2006/main">
              <a:ext uri="{FF2B5EF4-FFF2-40B4-BE49-F238E27FC236}">
                <a16:creationId xmlns:a16="http://schemas.microsoft.com/office/drawing/2014/main" id="{A93DC484-C75A-4238-A8F6-3651FF6B7A5C}"/>
              </a:ext>
            </a:extLst>
          </p:cNvPr>
          <p:cNvSpPr>
            <a:spLocks xmlns:a="http://schemas.openxmlformats.org/drawingml/2006/main" noGrp="1"/>
          </p:cNvSpPr>
          <p:nvPr/>
        </p:nvSpPr>
        <p:spPr>
          <a:xfrm xmlns:a="http://schemas.openxmlformats.org/drawingml/2006/main">
            <a:off x="2571750" y="2143125"/>
            <a:ext cx="1066800" cy="59055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8" name="">
            <a:extLst xmlns:a="http://schemas.openxmlformats.org/drawingml/2006/main">
              <a:ext uri="{FF2B5EF4-FFF2-40B4-BE49-F238E27FC236}">
                <a16:creationId xmlns:a16="http://schemas.microsoft.com/office/drawing/2014/main" id="{C4A35D43-1B70-4073-B2BE-D644B396714D}"/>
              </a:ext>
            </a:extLst>
          </p:cNvPr>
          <p:cNvSpPr>
            <a:spLocks xmlns:a="http://schemas.openxmlformats.org/drawingml/2006/main" noGrp="1"/>
          </p:cNvSpPr>
          <p:nvPr/>
        </p:nvSpPr>
        <p:spPr>
          <a:xfrm xmlns:a="http://schemas.openxmlformats.org/drawingml/2006/main">
            <a:off x="2571750" y="2295525"/>
            <a:ext cx="1066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Paper 1</a:t>
            </a:r>
          </a:p>
        </p:txBody>
      </p:sp>
      <p:sp>
        <p:nvSpPr>
          <p:cNvPr id="9" name="">
            <a:extLst xmlns:a="http://schemas.openxmlformats.org/drawingml/2006/main">
              <a:ext uri="{FF2B5EF4-FFF2-40B4-BE49-F238E27FC236}">
                <a16:creationId xmlns:a16="http://schemas.microsoft.com/office/drawing/2014/main" id="{75442660-6E55-4975-907F-3FBE3E8A90EC}"/>
              </a:ext>
            </a:extLst>
          </p:cNvPr>
          <p:cNvSpPr>
            <a:spLocks xmlns:a="http://schemas.openxmlformats.org/drawingml/2006/main" noGrp="1"/>
          </p:cNvSpPr>
          <p:nvPr/>
        </p:nvSpPr>
        <p:spPr>
          <a:xfrm xmlns:a="http://schemas.openxmlformats.org/drawingml/2006/main">
            <a:off x="5753100" y="2143125"/>
            <a:ext cx="1066800" cy="590550"/>
          </a:xfrm>
          <a:prstGeom xmlns:a="http://schemas.openxmlformats.org/drawingml/2006/main" prst="rect">
            <a:avLst/>
          </a:prstGeom>
          <a:solidFill xmlns:a="http://schemas.openxmlformats.org/drawingml/2006/main">
            <a:srgbClr val="D19A2A"/>
          </a:solidFill>
          <a:ln xmlns:a="http://schemas.openxmlformats.org/drawingml/2006/main" w="0">
            <a:solidFill>
              <a:srgbClr val="D19A2A"/>
            </a:solidFill>
            <a:prstDash val="solid"/>
          </a:ln>
        </p:spPr>
      </p:sp>
      <p:sp>
        <p:nvSpPr>
          <p:cNvPr id="10" name="">
            <a:extLst xmlns:a="http://schemas.openxmlformats.org/drawingml/2006/main">
              <a:ext uri="{FF2B5EF4-FFF2-40B4-BE49-F238E27FC236}">
                <a16:creationId xmlns:a16="http://schemas.microsoft.com/office/drawing/2014/main" id="{E43EC6BB-3D9A-41C4-893C-FD37ED4F1B84}"/>
              </a:ext>
            </a:extLst>
          </p:cNvPr>
          <p:cNvSpPr>
            <a:spLocks xmlns:a="http://schemas.openxmlformats.org/drawingml/2006/main" noGrp="1"/>
          </p:cNvSpPr>
          <p:nvPr/>
        </p:nvSpPr>
        <p:spPr>
          <a:xfrm xmlns:a="http://schemas.openxmlformats.org/drawingml/2006/main">
            <a:off x="5753100" y="2295525"/>
            <a:ext cx="1066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Paper 2</a:t>
            </a:r>
          </a:p>
        </p:txBody>
      </p:sp>
      <p:sp>
        <p:nvSpPr>
          <p:cNvPr id="11" name="">
            <a:extLst xmlns:a="http://schemas.openxmlformats.org/drawingml/2006/main">
              <a:ext uri="{FF2B5EF4-FFF2-40B4-BE49-F238E27FC236}">
                <a16:creationId xmlns:a16="http://schemas.microsoft.com/office/drawing/2014/main" id="{B0DBF0FC-BF78-4065-8391-C73359A09791}"/>
              </a:ext>
            </a:extLst>
          </p:cNvPr>
          <p:cNvSpPr>
            <a:spLocks xmlns:a="http://schemas.openxmlformats.org/drawingml/2006/main" noGrp="1"/>
          </p:cNvSpPr>
          <p:nvPr/>
        </p:nvSpPr>
        <p:spPr>
          <a:xfrm xmlns:a="http://schemas.openxmlformats.org/drawingml/2006/main">
            <a:off x="8572500" y="2143125"/>
            <a:ext cx="1066800" cy="590550"/>
          </a:xfrm>
          <a:prstGeom xmlns:a="http://schemas.openxmlformats.org/drawingml/2006/main" prst="rect">
            <a:avLst/>
          </a:prstGeom>
          <a:solidFill xmlns:a="http://schemas.openxmlformats.org/drawingml/2006/main">
            <a:srgbClr val="B85C38"/>
          </a:solidFill>
          <a:ln xmlns:a="http://schemas.openxmlformats.org/drawingml/2006/main" w="0">
            <a:solidFill>
              <a:srgbClr val="B85C38"/>
            </a:solidFill>
            <a:prstDash val="solid"/>
          </a:ln>
        </p:spPr>
      </p:sp>
      <p:sp>
        <p:nvSpPr>
          <p:cNvPr id="12" name="">
            <a:extLst xmlns:a="http://schemas.openxmlformats.org/drawingml/2006/main">
              <a:ext uri="{FF2B5EF4-FFF2-40B4-BE49-F238E27FC236}">
                <a16:creationId xmlns:a16="http://schemas.microsoft.com/office/drawing/2014/main" id="{E595F653-634B-4910-AF8E-E9E99C60EE58}"/>
              </a:ext>
            </a:extLst>
          </p:cNvPr>
          <p:cNvSpPr>
            <a:spLocks xmlns:a="http://schemas.openxmlformats.org/drawingml/2006/main" noGrp="1"/>
          </p:cNvSpPr>
          <p:nvPr/>
        </p:nvSpPr>
        <p:spPr>
          <a:xfrm xmlns:a="http://schemas.openxmlformats.org/drawingml/2006/main">
            <a:off x="8572500" y="2295525"/>
            <a:ext cx="1066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Paper 3</a:t>
            </a:r>
          </a:p>
        </p:txBody>
      </p:sp>
      <p:sp>
        <p:nvSpPr>
          <p:cNvPr id="13" name="">
            <a:extLst xmlns:a="http://schemas.openxmlformats.org/drawingml/2006/main">
              <a:ext uri="{FF2B5EF4-FFF2-40B4-BE49-F238E27FC236}">
                <a16:creationId xmlns:a16="http://schemas.microsoft.com/office/drawing/2014/main" id="{0A4F1A99-CF1A-4EA1-970D-C612C4C4D897}"/>
              </a:ext>
            </a:extLst>
          </p:cNvPr>
          <p:cNvSpPr>
            <a:spLocks xmlns:a="http://schemas.openxmlformats.org/drawingml/2006/main" noGrp="1"/>
          </p:cNvSpPr>
          <p:nvPr/>
        </p:nvSpPr>
        <p:spPr>
          <a:xfrm xmlns:a="http://schemas.openxmlformats.org/drawingml/2006/main">
            <a:off x="800100" y="3352800"/>
            <a:ext cx="3238500" cy="1257300"/>
          </a:xfrm>
          <a:prstGeom xmlns:a="http://schemas.openxmlformats.org/drawingml/2006/main" prst="rect">
            <a:avLst/>
          </a:prstGeom>
          <a:solidFill xmlns:a="http://schemas.openxmlformats.org/drawingml/2006/main">
            <a:srgbClr val="FFFFFF"/>
          </a:solidFill>
          <a:ln xmlns:a="http://schemas.openxmlformats.org/drawingml/2006/main" w="19050">
            <a:solidFill>
              <a:srgbClr val="D8D0C2"/>
            </a:solidFill>
            <a:prstDash val="solid"/>
          </a:ln>
        </p:spPr>
      </p:sp>
      <p:sp>
        <p:nvSpPr>
          <p:cNvPr id="14" name="">
            <a:extLst xmlns:a="http://schemas.openxmlformats.org/drawingml/2006/main">
              <a:ext uri="{FF2B5EF4-FFF2-40B4-BE49-F238E27FC236}">
                <a16:creationId xmlns:a16="http://schemas.microsoft.com/office/drawing/2014/main" id="{CA4B55C3-6283-4113-A870-DEA90772A7E4}"/>
              </a:ext>
            </a:extLst>
          </p:cNvPr>
          <p:cNvSpPr>
            <a:spLocks xmlns:a="http://schemas.openxmlformats.org/drawingml/2006/main" noGrp="1"/>
          </p:cNvSpPr>
          <p:nvPr/>
        </p:nvSpPr>
        <p:spPr>
          <a:xfrm xmlns:a="http://schemas.openxmlformats.org/drawingml/2006/main">
            <a:off x="800100" y="3352800"/>
            <a:ext cx="76200" cy="125730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15" name="">
            <a:extLst xmlns:a="http://schemas.openxmlformats.org/drawingml/2006/main">
              <a:ext uri="{FF2B5EF4-FFF2-40B4-BE49-F238E27FC236}">
                <a16:creationId xmlns:a16="http://schemas.microsoft.com/office/drawing/2014/main" id="{C5608B16-F655-4B24-9304-9A796086CB1F}"/>
              </a:ext>
            </a:extLst>
          </p:cNvPr>
          <p:cNvSpPr>
            <a:spLocks xmlns:a="http://schemas.openxmlformats.org/drawingml/2006/main" noGrp="1"/>
          </p:cNvSpPr>
          <p:nvPr/>
        </p:nvSpPr>
        <p:spPr>
          <a:xfrm xmlns:a="http://schemas.openxmlformats.org/drawingml/2006/main">
            <a:off x="1028700" y="3562350"/>
            <a:ext cx="2762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F7D78"/>
                </a:solidFill>
                <a:latin typeface="Aptos"/>
                <a:ea typeface="Aptos"/>
                <a:cs typeface="Aptos"/>
              </a:defRPr>
            </a:pPr>
            <a:r>
              <a:rPr sz="1650" b="1">
                <a:solidFill>
                  <a:srgbClr val="2F7D78"/>
                </a:solidFill>
                <a:latin typeface="Aptos"/>
                <a:ea typeface="Aptos"/>
                <a:cs typeface="Aptos"/>
              </a:rPr>
              <a:t>Paper 1: risk simulator</a:t>
            </a:r>
          </a:p>
        </p:txBody>
      </p:sp>
      <p:sp>
        <p:nvSpPr>
          <p:cNvPr id="16" name="">
            <a:extLst xmlns:a="http://schemas.openxmlformats.org/drawingml/2006/main">
              <a:ext uri="{FF2B5EF4-FFF2-40B4-BE49-F238E27FC236}">
                <a16:creationId xmlns:a16="http://schemas.microsoft.com/office/drawing/2014/main" id="{5A9455B1-F96B-4481-8916-1984DA617054}"/>
              </a:ext>
            </a:extLst>
          </p:cNvPr>
          <p:cNvSpPr>
            <a:spLocks xmlns:a="http://schemas.openxmlformats.org/drawingml/2006/main" noGrp="1"/>
          </p:cNvSpPr>
          <p:nvPr/>
        </p:nvSpPr>
        <p:spPr>
          <a:xfrm xmlns:a="http://schemas.openxmlformats.org/drawingml/2006/main">
            <a:off x="1028700" y="3943350"/>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ptos"/>
                <a:ea typeface="Aptos"/>
                <a:cs typeface="Aptos"/>
              </a:defRPr>
            </a:pPr>
            <a:r>
              <a:rPr sz="1350" b="0">
                <a:solidFill>
                  <a:srgbClr val="17212B"/>
                </a:solidFill>
                <a:latin typeface="Aptos"/>
                <a:ea typeface="Aptos"/>
                <a:cs typeface="Aptos"/>
              </a:rPr>
              <a:t>Use this as the main evaluation spine.</a:t>
            </a:r>
          </a:p>
        </p:txBody>
      </p:sp>
      <p:sp>
        <p:nvSpPr>
          <p:cNvPr id="17" name="">
            <a:extLst xmlns:a="http://schemas.openxmlformats.org/drawingml/2006/main">
              <a:ext uri="{FF2B5EF4-FFF2-40B4-BE49-F238E27FC236}">
                <a16:creationId xmlns:a16="http://schemas.microsoft.com/office/drawing/2014/main" id="{5BB9156A-DB22-4BF9-910A-FA034D870BCB}"/>
              </a:ext>
            </a:extLst>
          </p:cNvPr>
          <p:cNvSpPr>
            <a:spLocks xmlns:a="http://schemas.openxmlformats.org/drawingml/2006/main" noGrp="1"/>
          </p:cNvSpPr>
          <p:nvPr/>
        </p:nvSpPr>
        <p:spPr>
          <a:xfrm xmlns:a="http://schemas.openxmlformats.org/drawingml/2006/main">
            <a:off x="3257550" y="3562350"/>
            <a:ext cx="533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500" b="1">
                <a:solidFill>
                  <a:srgbClr val="2F7D78"/>
                </a:solidFill>
                <a:latin typeface="Aptos"/>
                <a:ea typeface="Aptos"/>
                <a:cs typeface="Aptos"/>
              </a:defRPr>
            </a:pPr>
            <a:r>
              <a:rPr sz="1500" b="1">
                <a:solidFill>
                  <a:srgbClr val="2F7D78"/>
                </a:solidFill>
                <a:latin typeface="Aptos"/>
                <a:ea typeface="Aptos"/>
                <a:cs typeface="Aptos"/>
              </a:rPr>
              <a:t>ADAPT</a:t>
            </a:r>
          </a:p>
        </p:txBody>
      </p:sp>
      <p:sp>
        <p:nvSpPr>
          <p:cNvPr id="18" name="">
            <a:extLst xmlns:a="http://schemas.openxmlformats.org/drawingml/2006/main">
              <a:ext uri="{FF2B5EF4-FFF2-40B4-BE49-F238E27FC236}">
                <a16:creationId xmlns:a16="http://schemas.microsoft.com/office/drawing/2014/main" id="{57EB3592-FC1F-444F-9429-F37A222E0FD5}"/>
              </a:ext>
            </a:extLst>
          </p:cNvPr>
          <p:cNvSpPr>
            <a:spLocks xmlns:a="http://schemas.openxmlformats.org/drawingml/2006/main" noGrp="1"/>
          </p:cNvSpPr>
          <p:nvPr/>
        </p:nvSpPr>
        <p:spPr>
          <a:xfrm xmlns:a="http://schemas.openxmlformats.org/drawingml/2006/main">
            <a:off x="4400550" y="3352800"/>
            <a:ext cx="3238500" cy="1257300"/>
          </a:xfrm>
          <a:prstGeom xmlns:a="http://schemas.openxmlformats.org/drawingml/2006/main" prst="rect">
            <a:avLst/>
          </a:prstGeom>
          <a:solidFill xmlns:a="http://schemas.openxmlformats.org/drawingml/2006/main">
            <a:srgbClr val="FFFFFF"/>
          </a:solidFill>
          <a:ln xmlns:a="http://schemas.openxmlformats.org/drawingml/2006/main" w="19050">
            <a:solidFill>
              <a:srgbClr val="D8D0C2"/>
            </a:solidFill>
            <a:prstDash val="solid"/>
          </a:ln>
        </p:spPr>
      </p:sp>
      <p:sp>
        <p:nvSpPr>
          <p:cNvPr id="19" name="">
            <a:extLst xmlns:a="http://schemas.openxmlformats.org/drawingml/2006/main">
              <a:ext uri="{FF2B5EF4-FFF2-40B4-BE49-F238E27FC236}">
                <a16:creationId xmlns:a16="http://schemas.microsoft.com/office/drawing/2014/main" id="{8F8DF2B3-5D80-4C4E-B322-4E3011D5DBFF}"/>
              </a:ext>
            </a:extLst>
          </p:cNvPr>
          <p:cNvSpPr>
            <a:spLocks xmlns:a="http://schemas.openxmlformats.org/drawingml/2006/main" noGrp="1"/>
          </p:cNvSpPr>
          <p:nvPr/>
        </p:nvSpPr>
        <p:spPr>
          <a:xfrm xmlns:a="http://schemas.openxmlformats.org/drawingml/2006/main">
            <a:off x="4400550" y="3352800"/>
            <a:ext cx="76200" cy="1257300"/>
          </a:xfrm>
          <a:prstGeom xmlns:a="http://schemas.openxmlformats.org/drawingml/2006/main" prst="rect">
            <a:avLst/>
          </a:prstGeom>
          <a:solidFill xmlns:a="http://schemas.openxmlformats.org/drawingml/2006/main">
            <a:srgbClr val="D19A2A"/>
          </a:solidFill>
          <a:ln xmlns:a="http://schemas.openxmlformats.org/drawingml/2006/main" w="0">
            <a:solidFill>
              <a:srgbClr val="D19A2A"/>
            </a:solidFill>
            <a:prstDash val="solid"/>
          </a:ln>
        </p:spPr>
      </p:sp>
      <p:sp>
        <p:nvSpPr>
          <p:cNvPr id="20" name="">
            <a:extLst xmlns:a="http://schemas.openxmlformats.org/drawingml/2006/main">
              <a:ext uri="{FF2B5EF4-FFF2-40B4-BE49-F238E27FC236}">
                <a16:creationId xmlns:a16="http://schemas.microsoft.com/office/drawing/2014/main" id="{B5DDF2EF-550E-4219-BCBE-207D2A0B20B8}"/>
              </a:ext>
            </a:extLst>
          </p:cNvPr>
          <p:cNvSpPr>
            <a:spLocks xmlns:a="http://schemas.openxmlformats.org/drawingml/2006/main" noGrp="1"/>
          </p:cNvSpPr>
          <p:nvPr/>
        </p:nvSpPr>
        <p:spPr>
          <a:xfrm xmlns:a="http://schemas.openxmlformats.org/drawingml/2006/main">
            <a:off x="4629150" y="3562350"/>
            <a:ext cx="2762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19A2A"/>
                </a:solidFill>
                <a:latin typeface="Aptos"/>
                <a:ea typeface="Aptos"/>
                <a:cs typeface="Aptos"/>
              </a:defRPr>
            </a:pPr>
            <a:r>
              <a:rPr sz="1650" b="1">
                <a:solidFill>
                  <a:srgbClr val="D19A2A"/>
                </a:solidFill>
                <a:latin typeface="Aptos"/>
                <a:ea typeface="Aptos"/>
                <a:cs typeface="Aptos"/>
              </a:rPr>
              <a:t>Paper 2: PatientSim</a:t>
            </a:r>
          </a:p>
        </p:txBody>
      </p:sp>
      <p:sp>
        <p:nvSpPr>
          <p:cNvPr id="21" name="">
            <a:extLst xmlns:a="http://schemas.openxmlformats.org/drawingml/2006/main">
              <a:ext uri="{FF2B5EF4-FFF2-40B4-BE49-F238E27FC236}">
                <a16:creationId xmlns:a16="http://schemas.microsoft.com/office/drawing/2014/main" id="{6A4E64D6-F41F-48AD-A299-BB2B1BE3BF98}"/>
              </a:ext>
            </a:extLst>
          </p:cNvPr>
          <p:cNvSpPr>
            <a:spLocks xmlns:a="http://schemas.openxmlformats.org/drawingml/2006/main" noGrp="1"/>
          </p:cNvSpPr>
          <p:nvPr/>
        </p:nvSpPr>
        <p:spPr>
          <a:xfrm xmlns:a="http://schemas.openxmlformats.org/drawingml/2006/main">
            <a:off x="4629150" y="3943350"/>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ptos"/>
                <a:ea typeface="Aptos"/>
                <a:cs typeface="Aptos"/>
              </a:defRPr>
            </a:pPr>
            <a:r>
              <a:rPr sz="1350" b="0">
                <a:solidFill>
                  <a:srgbClr val="17212B"/>
                </a:solidFill>
                <a:latin typeface="Aptos"/>
                <a:ea typeface="Aptos"/>
                <a:cs typeface="Aptos"/>
              </a:rPr>
              <a:t>Borrow persona axes, not ED diagnosis framing.</a:t>
            </a:r>
          </a:p>
        </p:txBody>
      </p:sp>
      <p:sp>
        <p:nvSpPr>
          <p:cNvPr id="22" name="">
            <a:extLst xmlns:a="http://schemas.openxmlformats.org/drawingml/2006/main">
              <a:ext uri="{FF2B5EF4-FFF2-40B4-BE49-F238E27FC236}">
                <a16:creationId xmlns:a16="http://schemas.microsoft.com/office/drawing/2014/main" id="{3A808702-527A-46E6-95EF-5C0E65676320}"/>
              </a:ext>
            </a:extLst>
          </p:cNvPr>
          <p:cNvSpPr>
            <a:spLocks xmlns:a="http://schemas.openxmlformats.org/drawingml/2006/main" noGrp="1"/>
          </p:cNvSpPr>
          <p:nvPr/>
        </p:nvSpPr>
        <p:spPr>
          <a:xfrm xmlns:a="http://schemas.openxmlformats.org/drawingml/2006/main">
            <a:off x="6858000" y="3562350"/>
            <a:ext cx="533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500" b="1">
                <a:solidFill>
                  <a:srgbClr val="D19A2A"/>
                </a:solidFill>
                <a:latin typeface="Aptos"/>
                <a:ea typeface="Aptos"/>
                <a:cs typeface="Aptos"/>
              </a:defRPr>
            </a:pPr>
            <a:r>
              <a:rPr sz="1500" b="1">
                <a:solidFill>
                  <a:srgbClr val="D19A2A"/>
                </a:solidFill>
                <a:latin typeface="Aptos"/>
                <a:ea typeface="Aptos"/>
                <a:cs typeface="Aptos"/>
              </a:rPr>
              <a:t>BORROW</a:t>
            </a:r>
          </a:p>
        </p:txBody>
      </p:sp>
      <p:sp>
        <p:nvSpPr>
          <p:cNvPr id="23" name="">
            <a:extLst xmlns:a="http://schemas.openxmlformats.org/drawingml/2006/main">
              <a:ext uri="{FF2B5EF4-FFF2-40B4-BE49-F238E27FC236}">
                <a16:creationId xmlns:a16="http://schemas.microsoft.com/office/drawing/2014/main" id="{1F0C5D4F-5AE5-4526-8DF7-13D7E8884814}"/>
              </a:ext>
            </a:extLst>
          </p:cNvPr>
          <p:cNvSpPr>
            <a:spLocks xmlns:a="http://schemas.openxmlformats.org/drawingml/2006/main" noGrp="1"/>
          </p:cNvSpPr>
          <p:nvPr/>
        </p:nvSpPr>
        <p:spPr>
          <a:xfrm xmlns:a="http://schemas.openxmlformats.org/drawingml/2006/main">
            <a:off x="8001000" y="3352800"/>
            <a:ext cx="3238500" cy="1257300"/>
          </a:xfrm>
          <a:prstGeom xmlns:a="http://schemas.openxmlformats.org/drawingml/2006/main" prst="rect">
            <a:avLst/>
          </a:prstGeom>
          <a:solidFill xmlns:a="http://schemas.openxmlformats.org/drawingml/2006/main">
            <a:srgbClr val="FFFFFF"/>
          </a:solidFill>
          <a:ln xmlns:a="http://schemas.openxmlformats.org/drawingml/2006/main" w="19050">
            <a:solidFill>
              <a:srgbClr val="D8D0C2"/>
            </a:solidFill>
            <a:prstDash val="solid"/>
          </a:ln>
        </p:spPr>
      </p:sp>
      <p:sp>
        <p:nvSpPr>
          <p:cNvPr id="24" name="">
            <a:extLst xmlns:a="http://schemas.openxmlformats.org/drawingml/2006/main">
              <a:ext uri="{FF2B5EF4-FFF2-40B4-BE49-F238E27FC236}">
                <a16:creationId xmlns:a16="http://schemas.microsoft.com/office/drawing/2014/main" id="{34034B69-0C22-4125-A0D5-64A9B77948D0}"/>
              </a:ext>
            </a:extLst>
          </p:cNvPr>
          <p:cNvSpPr>
            <a:spLocks xmlns:a="http://schemas.openxmlformats.org/drawingml/2006/main" noGrp="1"/>
          </p:cNvSpPr>
          <p:nvPr/>
        </p:nvSpPr>
        <p:spPr>
          <a:xfrm xmlns:a="http://schemas.openxmlformats.org/drawingml/2006/main">
            <a:off x="8001000" y="3352800"/>
            <a:ext cx="76200" cy="1257300"/>
          </a:xfrm>
          <a:prstGeom xmlns:a="http://schemas.openxmlformats.org/drawingml/2006/main" prst="rect">
            <a:avLst/>
          </a:prstGeom>
          <a:solidFill xmlns:a="http://schemas.openxmlformats.org/drawingml/2006/main">
            <a:srgbClr val="B85C38"/>
          </a:solidFill>
          <a:ln xmlns:a="http://schemas.openxmlformats.org/drawingml/2006/main" w="0">
            <a:solidFill>
              <a:srgbClr val="B85C38"/>
            </a:solidFill>
            <a:prstDash val="solid"/>
          </a:ln>
        </p:spPr>
      </p:sp>
      <p:sp>
        <p:nvSpPr>
          <p:cNvPr id="25" name="">
            <a:extLst xmlns:a="http://schemas.openxmlformats.org/drawingml/2006/main">
              <a:ext uri="{FF2B5EF4-FFF2-40B4-BE49-F238E27FC236}">
                <a16:creationId xmlns:a16="http://schemas.microsoft.com/office/drawing/2014/main" id="{8F8D836E-C4DD-42E9-B64D-0A62AF9C60B0}"/>
              </a:ext>
            </a:extLst>
          </p:cNvPr>
          <p:cNvSpPr>
            <a:spLocks xmlns:a="http://schemas.openxmlformats.org/drawingml/2006/main" noGrp="1"/>
          </p:cNvSpPr>
          <p:nvPr/>
        </p:nvSpPr>
        <p:spPr>
          <a:xfrm xmlns:a="http://schemas.openxmlformats.org/drawingml/2006/main">
            <a:off x="8229600" y="3562350"/>
            <a:ext cx="2762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B85C38"/>
                </a:solidFill>
                <a:latin typeface="Aptos"/>
                <a:ea typeface="Aptos"/>
                <a:cs typeface="Aptos"/>
              </a:defRPr>
            </a:pPr>
            <a:r>
              <a:rPr sz="1650" b="1">
                <a:solidFill>
                  <a:srgbClr val="B85C38"/>
                </a:solidFill>
                <a:latin typeface="Aptos"/>
                <a:ea typeface="Aptos"/>
                <a:cs typeface="Aptos"/>
              </a:rPr>
              <a:t>Paper 3: usability tool</a:t>
            </a:r>
          </a:p>
        </p:txBody>
      </p:sp>
      <p:sp>
        <p:nvSpPr>
          <p:cNvPr id="26" name="">
            <a:extLst xmlns:a="http://schemas.openxmlformats.org/drawingml/2006/main">
              <a:ext uri="{FF2B5EF4-FFF2-40B4-BE49-F238E27FC236}">
                <a16:creationId xmlns:a16="http://schemas.microsoft.com/office/drawing/2014/main" id="{8CA36D08-A37C-4503-8706-0606BE67FD26}"/>
              </a:ext>
            </a:extLst>
          </p:cNvPr>
          <p:cNvSpPr>
            <a:spLocks xmlns:a="http://schemas.openxmlformats.org/drawingml/2006/main" noGrp="1"/>
          </p:cNvSpPr>
          <p:nvPr/>
        </p:nvSpPr>
        <p:spPr>
          <a:xfrm xmlns:a="http://schemas.openxmlformats.org/drawingml/2006/main">
            <a:off x="8229600" y="3943350"/>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ptos"/>
                <a:ea typeface="Aptos"/>
                <a:cs typeface="Aptos"/>
              </a:defRPr>
            </a:pPr>
            <a:r>
              <a:rPr sz="1350" b="0">
                <a:solidFill>
                  <a:srgbClr val="17212B"/>
                </a:solidFill>
                <a:latin typeface="Aptos"/>
                <a:ea typeface="Aptos"/>
                <a:cs typeface="Aptos"/>
              </a:rPr>
              <a:t>Borrow study discipline and limitation language.</a:t>
            </a:r>
          </a:p>
        </p:txBody>
      </p:sp>
      <p:sp>
        <p:nvSpPr>
          <p:cNvPr id="27" name="">
            <a:extLst xmlns:a="http://schemas.openxmlformats.org/drawingml/2006/main">
              <a:ext uri="{FF2B5EF4-FFF2-40B4-BE49-F238E27FC236}">
                <a16:creationId xmlns:a16="http://schemas.microsoft.com/office/drawing/2014/main" id="{AC0E2115-DA69-417C-8B86-A219EA108D66}"/>
              </a:ext>
            </a:extLst>
          </p:cNvPr>
          <p:cNvSpPr>
            <a:spLocks xmlns:a="http://schemas.openxmlformats.org/drawingml/2006/main" noGrp="1"/>
          </p:cNvSpPr>
          <p:nvPr/>
        </p:nvSpPr>
        <p:spPr>
          <a:xfrm xmlns:a="http://schemas.openxmlformats.org/drawingml/2006/main">
            <a:off x="10458450" y="3562350"/>
            <a:ext cx="533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500" b="1">
                <a:solidFill>
                  <a:srgbClr val="B85C38"/>
                </a:solidFill>
                <a:latin typeface="Aptos"/>
                <a:ea typeface="Aptos"/>
                <a:cs typeface="Aptos"/>
              </a:defRPr>
            </a:pPr>
            <a:r>
              <a:rPr sz="1500" b="1">
                <a:solidFill>
                  <a:srgbClr val="B85C38"/>
                </a:solidFill>
                <a:latin typeface="Aptos"/>
                <a:ea typeface="Aptos"/>
                <a:cs typeface="Aptos"/>
              </a:rPr>
              <a:t>LIGHT</a:t>
            </a:r>
          </a:p>
        </p:txBody>
      </p:sp>
      <p:sp>
        <p:nvSpPr>
          <p:cNvPr id="28" name="">
            <a:extLst xmlns:a="http://schemas.openxmlformats.org/drawingml/2006/main">
              <a:ext uri="{FF2B5EF4-FFF2-40B4-BE49-F238E27FC236}">
                <a16:creationId xmlns:a16="http://schemas.microsoft.com/office/drawing/2014/main" id="{0546D325-CBA2-4954-B67E-17B88B929109}"/>
              </a:ext>
            </a:extLst>
          </p:cNvPr>
          <p:cNvSpPr>
            <a:spLocks xmlns:a="http://schemas.openxmlformats.org/drawingml/2006/main" noGrp="1"/>
          </p:cNvSpPr>
          <p:nvPr/>
        </p:nvSpPr>
        <p:spPr>
          <a:xfrm xmlns:a="http://schemas.openxmlformats.org/drawingml/2006/main">
            <a:off x="800100" y="5581650"/>
            <a:ext cx="9334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7212B"/>
                </a:solidFill>
                <a:latin typeface="Aptos"/>
                <a:ea typeface="Aptos"/>
                <a:cs typeface="Aptos"/>
              </a:defRPr>
            </a:pPr>
            <a:r>
              <a:rPr sz="1800" b="1">
                <a:solidFill>
                  <a:srgbClr val="17212B"/>
                </a:solidFill>
                <a:latin typeface="Aptos"/>
                <a:ea typeface="Aptos"/>
                <a:cs typeface="Aptos"/>
              </a:rPr>
              <a:t>Do not force-fit ED diagnosis, medical education, or antidepressant decision aid claims.</a:t>
            </a:r>
          </a:p>
        </p:txBody>
      </p:sp>
    </p:spTree>
    <p:extLst>
      <p:ext uri="{BB962C8B-B14F-4D97-AF65-F5344CB8AC3E}">
        <p14:creationId xmlns:p14="http://schemas.microsoft.com/office/powerpoint/2010/main" val="1562124632"/>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26D2443-54C6-4E09-BAC8-EB863676FFEA}"/>
              </a:ext>
            </a:extLst>
          </p:cNvPr>
          <p:cNvSpPr>
            <a:spLocks xmlns:a="http://schemas.openxmlformats.org/drawingml/2006/main" noGrp="1"/>
          </p:cNvSpPr>
          <p:nvPr/>
        </p:nvSpPr>
        <p:spPr>
          <a:xfrm xmlns:a="http://schemas.openxmlformats.org/drawingml/2006/main">
            <a:off x="609600" y="41910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2F7D78"/>
                </a:solidFill>
                <a:latin typeface="Aptos"/>
                <a:ea typeface="Aptos"/>
                <a:cs typeface="Aptos"/>
              </a:defRPr>
            </a:pPr>
            <a:r>
              <a:rPr sz="1050" b="1">
                <a:solidFill>
                  <a:srgbClr val="2F7D78"/>
                </a:solidFill>
                <a:latin typeface="Aptos"/>
                <a:ea typeface="Aptos"/>
                <a:cs typeface="Aptos"/>
              </a:rPr>
              <a:t>PAPER 1</a:t>
            </a:r>
          </a:p>
        </p:txBody>
      </p:sp>
      <p:sp>
        <p:nvSpPr>
          <p:cNvPr id="2" name="">
            <a:extLst xmlns:a="http://schemas.openxmlformats.org/drawingml/2006/main">
              <a:ext uri="{FF2B5EF4-FFF2-40B4-BE49-F238E27FC236}">
                <a16:creationId xmlns:a16="http://schemas.microsoft.com/office/drawing/2014/main" id="{BB03E716-1219-495B-BC5E-9AC27D1AC7D8}"/>
              </a:ext>
            </a:extLst>
          </p:cNvPr>
          <p:cNvSpPr>
            <a:spLocks xmlns:a="http://schemas.openxmlformats.org/drawingml/2006/main" noGrp="1"/>
          </p:cNvSpPr>
          <p:nvPr/>
        </p:nvSpPr>
        <p:spPr>
          <a:xfrm xmlns:a="http://schemas.openxmlformats.org/drawingml/2006/main">
            <a:off x="609600" y="723900"/>
            <a:ext cx="8953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7212B"/>
                </a:solidFill>
                <a:latin typeface="Aptos Display"/>
                <a:ea typeface="Aptos Display"/>
                <a:cs typeface="Aptos Display"/>
              </a:defRPr>
            </a:pPr>
            <a:r>
              <a:rPr sz="2700" b="1">
                <a:solidFill>
                  <a:srgbClr val="17212B"/>
                </a:solidFill>
                <a:latin typeface="Aptos Display"/>
                <a:ea typeface="Aptos Display"/>
                <a:cs typeface="Aptos Display"/>
              </a:rPr>
              <a:t>The useful move: simulate the user, then test the AI.</a:t>
            </a:r>
          </a:p>
        </p:txBody>
      </p:sp>
      <p:sp>
        <p:nvSpPr>
          <p:cNvPr id="3" name="">
            <a:extLst xmlns:a="http://schemas.openxmlformats.org/drawingml/2006/main">
              <a:ext uri="{FF2B5EF4-FFF2-40B4-BE49-F238E27FC236}">
                <a16:creationId xmlns:a16="http://schemas.microsoft.com/office/drawing/2014/main" id="{C2B9DCC4-520B-418D-9508-8246BC808EA3}"/>
              </a:ext>
            </a:extLst>
          </p:cNvPr>
          <p:cNvSpPr>
            <a:spLocks xmlns:a="http://schemas.openxmlformats.org/drawingml/2006/main" noGrp="1"/>
          </p:cNvSpPr>
          <p:nvPr/>
        </p:nvSpPr>
        <p:spPr>
          <a:xfrm xmlns:a="http://schemas.openxmlformats.org/drawingml/2006/main">
            <a:off x="762000" y="1809750"/>
            <a:ext cx="2381250" cy="1066800"/>
          </a:xfrm>
          <a:prstGeom xmlns:a="http://schemas.openxmlformats.org/drawingml/2006/main" prst="rect">
            <a:avLst/>
          </a:prstGeom>
          <a:solidFill xmlns:a="http://schemas.openxmlformats.org/drawingml/2006/main">
            <a:srgbClr val="FFFFFF"/>
          </a:solidFill>
          <a:ln xmlns:a="http://schemas.openxmlformats.org/drawingml/2006/main" w="28575">
            <a:solidFill>
              <a:srgbClr val="285C7D"/>
            </a:solidFill>
            <a:prstDash val="solid"/>
          </a:ln>
        </p:spPr>
      </p:sp>
      <p:sp>
        <p:nvSpPr>
          <p:cNvPr id="4" name="">
            <a:extLst xmlns:a="http://schemas.openxmlformats.org/drawingml/2006/main">
              <a:ext uri="{FF2B5EF4-FFF2-40B4-BE49-F238E27FC236}">
                <a16:creationId xmlns:a16="http://schemas.microsoft.com/office/drawing/2014/main" id="{50C02CD0-5CBA-45A1-A522-DC86B035F62C}"/>
              </a:ext>
            </a:extLst>
          </p:cNvPr>
          <p:cNvSpPr>
            <a:spLocks xmlns:a="http://schemas.openxmlformats.org/drawingml/2006/main" noGrp="1"/>
          </p:cNvSpPr>
          <p:nvPr/>
        </p:nvSpPr>
        <p:spPr>
          <a:xfrm xmlns:a="http://schemas.openxmlformats.org/drawingml/2006/main">
            <a:off x="933450" y="1981200"/>
            <a:ext cx="2038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85C7D"/>
                </a:solidFill>
                <a:latin typeface="Aptos"/>
                <a:ea typeface="Aptos"/>
                <a:cs typeface="Aptos"/>
              </a:defRPr>
            </a:pPr>
            <a:r>
              <a:rPr sz="1650" b="1">
                <a:solidFill>
                  <a:srgbClr val="285C7D"/>
                </a:solidFill>
                <a:latin typeface="Aptos"/>
                <a:ea typeface="Aptos"/>
                <a:cs typeface="Aptos"/>
              </a:rPr>
              <a:t>Medical facts</a:t>
            </a:r>
          </a:p>
        </p:txBody>
      </p:sp>
      <p:sp>
        <p:nvSpPr>
          <p:cNvPr id="5" name="">
            <a:extLst xmlns:a="http://schemas.openxmlformats.org/drawingml/2006/main">
              <a:ext uri="{FF2B5EF4-FFF2-40B4-BE49-F238E27FC236}">
                <a16:creationId xmlns:a16="http://schemas.microsoft.com/office/drawing/2014/main" id="{64920862-EDF2-40E8-ACB5-E49C916E8697}"/>
              </a:ext>
            </a:extLst>
          </p:cNvPr>
          <p:cNvSpPr>
            <a:spLocks xmlns:a="http://schemas.openxmlformats.org/drawingml/2006/main" noGrp="1"/>
          </p:cNvSpPr>
          <p:nvPr/>
        </p:nvSpPr>
        <p:spPr>
          <a:xfrm xmlns:a="http://schemas.openxmlformats.org/drawingml/2006/main">
            <a:off x="933450" y="2305050"/>
            <a:ext cx="2038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673"/>
                </a:solidFill>
                <a:latin typeface="Aptos"/>
                <a:ea typeface="Aptos"/>
                <a:cs typeface="Aptos"/>
              </a:defRPr>
            </a:pPr>
            <a:r>
              <a:rPr sz="1275" b="0">
                <a:solidFill>
                  <a:srgbClr val="5B6673"/>
                </a:solidFill>
                <a:latin typeface="Aptos"/>
                <a:ea typeface="Aptos"/>
                <a:cs typeface="Aptos"/>
              </a:rPr>
              <a:t>EHR-grounded profile</a:t>
            </a:r>
          </a:p>
        </p:txBody>
      </p:sp>
      <p:sp>
        <p:nvSpPr>
          <p:cNvPr id="6" name="">
            <a:extLst xmlns:a="http://schemas.openxmlformats.org/drawingml/2006/main">
              <a:ext uri="{FF2B5EF4-FFF2-40B4-BE49-F238E27FC236}">
                <a16:creationId xmlns:a16="http://schemas.microsoft.com/office/drawing/2014/main" id="{DF47027B-8325-42F4-8A25-CFB329CD8D33}"/>
              </a:ext>
            </a:extLst>
          </p:cNvPr>
          <p:cNvSpPr>
            <a:spLocks xmlns:a="http://schemas.openxmlformats.org/drawingml/2006/main" noGrp="1"/>
          </p:cNvSpPr>
          <p:nvPr/>
        </p:nvSpPr>
        <p:spPr>
          <a:xfrm xmlns:a="http://schemas.openxmlformats.org/drawingml/2006/main">
            <a:off x="3714750" y="1809750"/>
            <a:ext cx="2381250" cy="1066800"/>
          </a:xfrm>
          <a:prstGeom xmlns:a="http://schemas.openxmlformats.org/drawingml/2006/main" prst="rect">
            <a:avLst/>
          </a:prstGeom>
          <a:solidFill xmlns:a="http://schemas.openxmlformats.org/drawingml/2006/main">
            <a:srgbClr val="FFFFFF"/>
          </a:solidFill>
          <a:ln xmlns:a="http://schemas.openxmlformats.org/drawingml/2006/main" w="28575">
            <a:solidFill>
              <a:srgbClr val="2F7D78"/>
            </a:solidFill>
            <a:prstDash val="solid"/>
          </a:ln>
        </p:spPr>
      </p:sp>
      <p:sp>
        <p:nvSpPr>
          <p:cNvPr id="7" name="">
            <a:extLst xmlns:a="http://schemas.openxmlformats.org/drawingml/2006/main">
              <a:ext uri="{FF2B5EF4-FFF2-40B4-BE49-F238E27FC236}">
                <a16:creationId xmlns:a16="http://schemas.microsoft.com/office/drawing/2014/main" id="{3779BF92-29AC-4DB8-A676-B54B735417A8}"/>
              </a:ext>
            </a:extLst>
          </p:cNvPr>
          <p:cNvSpPr>
            <a:spLocks xmlns:a="http://schemas.openxmlformats.org/drawingml/2006/main" noGrp="1"/>
          </p:cNvSpPr>
          <p:nvPr/>
        </p:nvSpPr>
        <p:spPr>
          <a:xfrm xmlns:a="http://schemas.openxmlformats.org/drawingml/2006/main">
            <a:off x="3886200" y="1981200"/>
            <a:ext cx="2038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F7D78"/>
                </a:solidFill>
                <a:latin typeface="Aptos"/>
                <a:ea typeface="Aptos"/>
                <a:cs typeface="Aptos"/>
              </a:defRPr>
            </a:pPr>
            <a:r>
              <a:rPr sz="1650" b="1">
                <a:solidFill>
                  <a:srgbClr val="2F7D78"/>
                </a:solidFill>
                <a:latin typeface="Aptos"/>
                <a:ea typeface="Aptos"/>
                <a:cs typeface="Aptos"/>
              </a:rPr>
              <a:t>Language style</a:t>
            </a:r>
          </a:p>
        </p:txBody>
      </p:sp>
      <p:sp>
        <p:nvSpPr>
          <p:cNvPr id="8" name="">
            <a:extLst xmlns:a="http://schemas.openxmlformats.org/drawingml/2006/main">
              <a:ext uri="{FF2B5EF4-FFF2-40B4-BE49-F238E27FC236}">
                <a16:creationId xmlns:a16="http://schemas.microsoft.com/office/drawing/2014/main" id="{CDB2E9A0-8E17-449D-98D7-F49152055BA0}"/>
              </a:ext>
            </a:extLst>
          </p:cNvPr>
          <p:cNvSpPr>
            <a:spLocks xmlns:a="http://schemas.openxmlformats.org/drawingml/2006/main" noGrp="1"/>
          </p:cNvSpPr>
          <p:nvPr/>
        </p:nvSpPr>
        <p:spPr>
          <a:xfrm xmlns:a="http://schemas.openxmlformats.org/drawingml/2006/main">
            <a:off x="3886200" y="2305050"/>
            <a:ext cx="2038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673"/>
                </a:solidFill>
                <a:latin typeface="Aptos"/>
                <a:ea typeface="Aptos"/>
                <a:cs typeface="Aptos"/>
              </a:defRPr>
            </a:pPr>
            <a:r>
              <a:rPr sz="1275" b="0">
                <a:solidFill>
                  <a:srgbClr val="5B6673"/>
                </a:solidFill>
                <a:latin typeface="Aptos"/>
                <a:ea typeface="Aptos"/>
                <a:cs typeface="Aptos"/>
              </a:rPr>
              <a:t>health literacy variation</a:t>
            </a:r>
          </a:p>
        </p:txBody>
      </p:sp>
      <p:sp>
        <p:nvSpPr>
          <p:cNvPr id="9" name="">
            <a:extLst xmlns:a="http://schemas.openxmlformats.org/drawingml/2006/main">
              <a:ext uri="{FF2B5EF4-FFF2-40B4-BE49-F238E27FC236}">
                <a16:creationId xmlns:a16="http://schemas.microsoft.com/office/drawing/2014/main" id="{5044F882-E9A0-474D-860C-AF9133A2B4B0}"/>
              </a:ext>
            </a:extLst>
          </p:cNvPr>
          <p:cNvSpPr>
            <a:spLocks xmlns:a="http://schemas.openxmlformats.org/drawingml/2006/main" noGrp="1"/>
          </p:cNvSpPr>
          <p:nvPr/>
        </p:nvSpPr>
        <p:spPr>
          <a:xfrm xmlns:a="http://schemas.openxmlformats.org/drawingml/2006/main">
            <a:off x="6667500" y="1809750"/>
            <a:ext cx="2381250" cy="1066800"/>
          </a:xfrm>
          <a:prstGeom xmlns:a="http://schemas.openxmlformats.org/drawingml/2006/main" prst="rect">
            <a:avLst/>
          </a:prstGeom>
          <a:solidFill xmlns:a="http://schemas.openxmlformats.org/drawingml/2006/main">
            <a:srgbClr val="FFFFFF"/>
          </a:solidFill>
          <a:ln xmlns:a="http://schemas.openxmlformats.org/drawingml/2006/main" w="28575">
            <a:solidFill>
              <a:srgbClr val="D19A2A"/>
            </a:solidFill>
            <a:prstDash val="solid"/>
          </a:ln>
        </p:spPr>
      </p:sp>
      <p:sp>
        <p:nvSpPr>
          <p:cNvPr id="10" name="">
            <a:extLst xmlns:a="http://schemas.openxmlformats.org/drawingml/2006/main">
              <a:ext uri="{FF2B5EF4-FFF2-40B4-BE49-F238E27FC236}">
                <a16:creationId xmlns:a16="http://schemas.microsoft.com/office/drawing/2014/main" id="{D906D75C-F580-4E43-A83A-F6E519D37F9C}"/>
              </a:ext>
            </a:extLst>
          </p:cNvPr>
          <p:cNvSpPr>
            <a:spLocks xmlns:a="http://schemas.openxmlformats.org/drawingml/2006/main" noGrp="1"/>
          </p:cNvSpPr>
          <p:nvPr/>
        </p:nvSpPr>
        <p:spPr>
          <a:xfrm xmlns:a="http://schemas.openxmlformats.org/drawingml/2006/main">
            <a:off x="6838950" y="1981200"/>
            <a:ext cx="2038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19A2A"/>
                </a:solidFill>
                <a:latin typeface="Aptos"/>
                <a:ea typeface="Aptos"/>
                <a:cs typeface="Aptos"/>
              </a:defRPr>
            </a:pPr>
            <a:r>
              <a:rPr sz="1650" b="1">
                <a:solidFill>
                  <a:srgbClr val="D19A2A"/>
                </a:solidFill>
                <a:latin typeface="Aptos"/>
                <a:ea typeface="Aptos"/>
                <a:cs typeface="Aptos"/>
              </a:rPr>
              <a:t>Behavior</a:t>
            </a:r>
          </a:p>
        </p:txBody>
      </p:sp>
      <p:sp>
        <p:nvSpPr>
          <p:cNvPr id="11" name="">
            <a:extLst xmlns:a="http://schemas.openxmlformats.org/drawingml/2006/main">
              <a:ext uri="{FF2B5EF4-FFF2-40B4-BE49-F238E27FC236}">
                <a16:creationId xmlns:a16="http://schemas.microsoft.com/office/drawing/2014/main" id="{323B7FCE-CB8E-43DE-8165-007228D2D0DA}"/>
              </a:ext>
            </a:extLst>
          </p:cNvPr>
          <p:cNvSpPr>
            <a:spLocks xmlns:a="http://schemas.openxmlformats.org/drawingml/2006/main" noGrp="1"/>
          </p:cNvSpPr>
          <p:nvPr/>
        </p:nvSpPr>
        <p:spPr>
          <a:xfrm xmlns:a="http://schemas.openxmlformats.org/drawingml/2006/main">
            <a:off x="6838950" y="2305050"/>
            <a:ext cx="2038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673"/>
                </a:solidFill>
                <a:latin typeface="Aptos"/>
                <a:ea typeface="Aptos"/>
                <a:cs typeface="Aptos"/>
              </a:defRPr>
            </a:pPr>
            <a:r>
              <a:rPr sz="1275" b="0">
                <a:solidFill>
                  <a:srgbClr val="5B6673"/>
                </a:solidFill>
                <a:latin typeface="Aptos"/>
                <a:ea typeface="Aptos"/>
                <a:cs typeface="Aptos"/>
              </a:rPr>
              <a:t>cooperative to adversarial</a:t>
            </a:r>
          </a:p>
        </p:txBody>
      </p:sp>
      <p:sp>
        <p:nvSpPr>
          <p:cNvPr id="12" name="">
            <a:extLst xmlns:a="http://schemas.openxmlformats.org/drawingml/2006/main">
              <a:ext uri="{FF2B5EF4-FFF2-40B4-BE49-F238E27FC236}">
                <a16:creationId xmlns:a16="http://schemas.microsoft.com/office/drawing/2014/main" id="{1C3BC739-475B-456F-9BE6-5790FCF637F8}"/>
              </a:ext>
            </a:extLst>
          </p:cNvPr>
          <p:cNvSpPr>
            <a:spLocks xmlns:a="http://schemas.openxmlformats.org/drawingml/2006/main" noGrp="1"/>
          </p:cNvSpPr>
          <p:nvPr/>
        </p:nvSpPr>
        <p:spPr>
          <a:xfrm xmlns:a="http://schemas.openxmlformats.org/drawingml/2006/main">
            <a:off x="3143250" y="2324100"/>
            <a:ext cx="571500" cy="28575"/>
          </a:xfrm>
          <a:prstGeom xmlns:a="http://schemas.openxmlformats.org/drawingml/2006/main" prst="rect">
            <a:avLst/>
          </a:prstGeom>
          <a:solidFill xmlns:a="http://schemas.openxmlformats.org/drawingml/2006/main">
            <a:srgbClr val="D8D0C2"/>
          </a:solidFill>
          <a:ln xmlns:a="http://schemas.openxmlformats.org/drawingml/2006/main" w="0">
            <a:solidFill>
              <a:srgbClr val="D8D0C2"/>
            </a:solidFill>
            <a:prstDash val="solid"/>
          </a:ln>
        </p:spPr>
      </p:sp>
      <p:sp>
        <p:nvSpPr>
          <p:cNvPr id="13" name="">
            <a:extLst xmlns:a="http://schemas.openxmlformats.org/drawingml/2006/main">
              <a:ext uri="{FF2B5EF4-FFF2-40B4-BE49-F238E27FC236}">
                <a16:creationId xmlns:a16="http://schemas.microsoft.com/office/drawing/2014/main" id="{5EDB00AC-432D-40A7-A365-540CD707B1DC}"/>
              </a:ext>
            </a:extLst>
          </p:cNvPr>
          <p:cNvSpPr>
            <a:spLocks xmlns:a="http://schemas.openxmlformats.org/drawingml/2006/main" noGrp="1"/>
          </p:cNvSpPr>
          <p:nvPr/>
        </p:nvSpPr>
        <p:spPr>
          <a:xfrm xmlns:a="http://schemas.openxmlformats.org/drawingml/2006/main">
            <a:off x="3638550" y="2266950"/>
            <a:ext cx="152400" cy="142875"/>
          </a:xfrm>
          <a:prstGeom xmlns:a="http://schemas.openxmlformats.org/drawingml/2006/main" prst="rect">
            <a:avLst/>
          </a:prstGeom>
          <a:solidFill xmlns:a="http://schemas.openxmlformats.org/drawingml/2006/main">
            <a:srgbClr val="D8D0C2"/>
          </a:solidFill>
          <a:ln xmlns:a="http://schemas.openxmlformats.org/drawingml/2006/main" w="0">
            <a:solidFill>
              <a:srgbClr val="D8D0C2"/>
            </a:solidFill>
            <a:prstDash val="solid"/>
          </a:ln>
        </p:spPr>
      </p:sp>
      <p:sp>
        <p:nvSpPr>
          <p:cNvPr id="14" name="">
            <a:extLst xmlns:a="http://schemas.openxmlformats.org/drawingml/2006/main">
              <a:ext uri="{FF2B5EF4-FFF2-40B4-BE49-F238E27FC236}">
                <a16:creationId xmlns:a16="http://schemas.microsoft.com/office/drawing/2014/main" id="{1D700AB6-8058-404D-9D20-F66C04DE64F4}"/>
              </a:ext>
            </a:extLst>
          </p:cNvPr>
          <p:cNvSpPr>
            <a:spLocks xmlns:a="http://schemas.openxmlformats.org/drawingml/2006/main" noGrp="1"/>
          </p:cNvSpPr>
          <p:nvPr/>
        </p:nvSpPr>
        <p:spPr>
          <a:xfrm xmlns:a="http://schemas.openxmlformats.org/drawingml/2006/main">
            <a:off x="6096000" y="2324100"/>
            <a:ext cx="571500" cy="28575"/>
          </a:xfrm>
          <a:prstGeom xmlns:a="http://schemas.openxmlformats.org/drawingml/2006/main" prst="rect">
            <a:avLst/>
          </a:prstGeom>
          <a:solidFill xmlns:a="http://schemas.openxmlformats.org/drawingml/2006/main">
            <a:srgbClr val="D8D0C2"/>
          </a:solidFill>
          <a:ln xmlns:a="http://schemas.openxmlformats.org/drawingml/2006/main" w="0">
            <a:solidFill>
              <a:srgbClr val="D8D0C2"/>
            </a:solidFill>
            <a:prstDash val="solid"/>
          </a:ln>
        </p:spPr>
      </p:sp>
      <p:sp>
        <p:nvSpPr>
          <p:cNvPr id="15" name="">
            <a:extLst xmlns:a="http://schemas.openxmlformats.org/drawingml/2006/main">
              <a:ext uri="{FF2B5EF4-FFF2-40B4-BE49-F238E27FC236}">
                <a16:creationId xmlns:a16="http://schemas.microsoft.com/office/drawing/2014/main" id="{EA75E1E8-341B-4EA0-9497-40075811DB0A}"/>
              </a:ext>
            </a:extLst>
          </p:cNvPr>
          <p:cNvSpPr>
            <a:spLocks xmlns:a="http://schemas.openxmlformats.org/drawingml/2006/main" noGrp="1"/>
          </p:cNvSpPr>
          <p:nvPr/>
        </p:nvSpPr>
        <p:spPr>
          <a:xfrm xmlns:a="http://schemas.openxmlformats.org/drawingml/2006/main">
            <a:off x="6591300" y="2266950"/>
            <a:ext cx="152400" cy="142875"/>
          </a:xfrm>
          <a:prstGeom xmlns:a="http://schemas.openxmlformats.org/drawingml/2006/main" prst="rect">
            <a:avLst/>
          </a:prstGeom>
          <a:solidFill xmlns:a="http://schemas.openxmlformats.org/drawingml/2006/main">
            <a:srgbClr val="D8D0C2"/>
          </a:solidFill>
          <a:ln xmlns:a="http://schemas.openxmlformats.org/drawingml/2006/main" w="0">
            <a:solidFill>
              <a:srgbClr val="D8D0C2"/>
            </a:solidFill>
            <a:prstDash val="solid"/>
          </a:ln>
        </p:spPr>
      </p:sp>
      <p:sp>
        <p:nvSpPr>
          <p:cNvPr id="16" name="">
            <a:extLst xmlns:a="http://schemas.openxmlformats.org/drawingml/2006/main">
              <a:ext uri="{FF2B5EF4-FFF2-40B4-BE49-F238E27FC236}">
                <a16:creationId xmlns:a16="http://schemas.microsoft.com/office/drawing/2014/main" id="{7C3CD7C3-CEC5-4F30-AFDE-8BDDC42A8445}"/>
              </a:ext>
            </a:extLst>
          </p:cNvPr>
          <p:cNvSpPr>
            <a:spLocks xmlns:a="http://schemas.openxmlformats.org/drawingml/2006/main" noGrp="1"/>
          </p:cNvSpPr>
          <p:nvPr/>
        </p:nvSpPr>
        <p:spPr>
          <a:xfrm xmlns:a="http://schemas.openxmlformats.org/drawingml/2006/main">
            <a:off x="3143250" y="3619500"/>
            <a:ext cx="3048000" cy="85725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17" name="">
            <a:extLst xmlns:a="http://schemas.openxmlformats.org/drawingml/2006/main">
              <a:ext uri="{FF2B5EF4-FFF2-40B4-BE49-F238E27FC236}">
                <a16:creationId xmlns:a16="http://schemas.microsoft.com/office/drawing/2014/main" id="{E06C909D-C336-4E4A-A4B8-019E82001701}"/>
              </a:ext>
            </a:extLst>
          </p:cNvPr>
          <p:cNvSpPr>
            <a:spLocks xmlns:a="http://schemas.openxmlformats.org/drawingml/2006/main" noGrp="1"/>
          </p:cNvSpPr>
          <p:nvPr/>
        </p:nvSpPr>
        <p:spPr>
          <a:xfrm xmlns:a="http://schemas.openxmlformats.org/drawingml/2006/main">
            <a:off x="3143250" y="3867150"/>
            <a:ext cx="3048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Simulated conversation</a:t>
            </a:r>
          </a:p>
        </p:txBody>
      </p:sp>
      <p:sp>
        <p:nvSpPr>
          <p:cNvPr id="18" name="">
            <a:extLst xmlns:a="http://schemas.openxmlformats.org/drawingml/2006/main">
              <a:ext uri="{FF2B5EF4-FFF2-40B4-BE49-F238E27FC236}">
                <a16:creationId xmlns:a16="http://schemas.microsoft.com/office/drawing/2014/main" id="{ACA129B9-EEAD-4D0E-990B-81303DC09FE7}"/>
              </a:ext>
            </a:extLst>
          </p:cNvPr>
          <p:cNvSpPr>
            <a:spLocks xmlns:a="http://schemas.openxmlformats.org/drawingml/2006/main" noGrp="1"/>
          </p:cNvSpPr>
          <p:nvPr/>
        </p:nvSpPr>
        <p:spPr>
          <a:xfrm xmlns:a="http://schemas.openxmlformats.org/drawingml/2006/main">
            <a:off x="6191250" y="4038600"/>
            <a:ext cx="1047750" cy="28575"/>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19" name="">
            <a:extLst xmlns:a="http://schemas.openxmlformats.org/drawingml/2006/main">
              <a:ext uri="{FF2B5EF4-FFF2-40B4-BE49-F238E27FC236}">
                <a16:creationId xmlns:a16="http://schemas.microsoft.com/office/drawing/2014/main" id="{8B9F8DA7-0008-42DA-988C-77946ABCB7D4}"/>
              </a:ext>
            </a:extLst>
          </p:cNvPr>
          <p:cNvSpPr>
            <a:spLocks xmlns:a="http://schemas.openxmlformats.org/drawingml/2006/main" noGrp="1"/>
          </p:cNvSpPr>
          <p:nvPr/>
        </p:nvSpPr>
        <p:spPr>
          <a:xfrm xmlns:a="http://schemas.openxmlformats.org/drawingml/2006/main">
            <a:off x="7162800" y="3981450"/>
            <a:ext cx="152400" cy="142875"/>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20" name="">
            <a:extLst xmlns:a="http://schemas.openxmlformats.org/drawingml/2006/main">
              <a:ext uri="{FF2B5EF4-FFF2-40B4-BE49-F238E27FC236}">
                <a16:creationId xmlns:a16="http://schemas.microsoft.com/office/drawing/2014/main" id="{8617FE9E-9421-418A-A376-CD099C46BC0E}"/>
              </a:ext>
            </a:extLst>
          </p:cNvPr>
          <p:cNvSpPr>
            <a:spLocks xmlns:a="http://schemas.openxmlformats.org/drawingml/2006/main" noGrp="1"/>
          </p:cNvSpPr>
          <p:nvPr/>
        </p:nvSpPr>
        <p:spPr>
          <a:xfrm xmlns:a="http://schemas.openxmlformats.org/drawingml/2006/main">
            <a:off x="7239000" y="3543300"/>
            <a:ext cx="2381250" cy="1066800"/>
          </a:xfrm>
          <a:prstGeom xmlns:a="http://schemas.openxmlformats.org/drawingml/2006/main" prst="rect">
            <a:avLst/>
          </a:prstGeom>
          <a:solidFill xmlns:a="http://schemas.openxmlformats.org/drawingml/2006/main">
            <a:srgbClr val="FFFFFF"/>
          </a:solidFill>
          <a:ln xmlns:a="http://schemas.openxmlformats.org/drawingml/2006/main" w="28575">
            <a:solidFill>
              <a:srgbClr val="B85C38"/>
            </a:solidFill>
            <a:prstDash val="solid"/>
          </a:ln>
        </p:spPr>
      </p:sp>
      <p:sp>
        <p:nvSpPr>
          <p:cNvPr id="21" name="">
            <a:extLst xmlns:a="http://schemas.openxmlformats.org/drawingml/2006/main">
              <a:ext uri="{FF2B5EF4-FFF2-40B4-BE49-F238E27FC236}">
                <a16:creationId xmlns:a16="http://schemas.microsoft.com/office/drawing/2014/main" id="{20F36E72-3F1B-4FE1-83E9-4E1DCF4582E7}"/>
              </a:ext>
            </a:extLst>
          </p:cNvPr>
          <p:cNvSpPr>
            <a:spLocks xmlns:a="http://schemas.openxmlformats.org/drawingml/2006/main" noGrp="1"/>
          </p:cNvSpPr>
          <p:nvPr/>
        </p:nvSpPr>
        <p:spPr>
          <a:xfrm xmlns:a="http://schemas.openxmlformats.org/drawingml/2006/main">
            <a:off x="7410450" y="3714750"/>
            <a:ext cx="2038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B85C38"/>
                </a:solidFill>
                <a:latin typeface="Aptos"/>
                <a:ea typeface="Aptos"/>
                <a:cs typeface="Aptos"/>
              </a:defRPr>
            </a:pPr>
            <a:r>
              <a:rPr sz="1650" b="1">
                <a:solidFill>
                  <a:srgbClr val="B85C38"/>
                </a:solidFill>
                <a:latin typeface="Aptos"/>
                <a:ea typeface="Aptos"/>
                <a:cs typeface="Aptos"/>
              </a:rPr>
              <a:t>Target AI</a:t>
            </a:r>
          </a:p>
        </p:txBody>
      </p:sp>
      <p:sp>
        <p:nvSpPr>
          <p:cNvPr id="22" name="">
            <a:extLst xmlns:a="http://schemas.openxmlformats.org/drawingml/2006/main">
              <a:ext uri="{FF2B5EF4-FFF2-40B4-BE49-F238E27FC236}">
                <a16:creationId xmlns:a16="http://schemas.microsoft.com/office/drawing/2014/main" id="{881A4A5D-381C-4588-BD93-7971CED8FC8C}"/>
              </a:ext>
            </a:extLst>
          </p:cNvPr>
          <p:cNvSpPr>
            <a:spLocks xmlns:a="http://schemas.openxmlformats.org/drawingml/2006/main" noGrp="1"/>
          </p:cNvSpPr>
          <p:nvPr/>
        </p:nvSpPr>
        <p:spPr>
          <a:xfrm xmlns:a="http://schemas.openxmlformats.org/drawingml/2006/main">
            <a:off x="7410450" y="4038600"/>
            <a:ext cx="2038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673"/>
                </a:solidFill>
                <a:latin typeface="Aptos"/>
                <a:ea typeface="Aptos"/>
                <a:cs typeface="Aptos"/>
              </a:defRPr>
            </a:pPr>
            <a:r>
              <a:rPr sz="1275" b="0">
                <a:solidFill>
                  <a:srgbClr val="5B6673"/>
                </a:solidFill>
                <a:latin typeface="Aptos"/>
                <a:ea typeface="Aptos"/>
                <a:cs typeface="Aptos"/>
              </a:rPr>
              <a:t>decision aid response</a:t>
            </a:r>
          </a:p>
        </p:txBody>
      </p:sp>
      <p:sp>
        <p:nvSpPr>
          <p:cNvPr id="23" name="">
            <a:extLst xmlns:a="http://schemas.openxmlformats.org/drawingml/2006/main">
              <a:ext uri="{FF2B5EF4-FFF2-40B4-BE49-F238E27FC236}">
                <a16:creationId xmlns:a16="http://schemas.microsoft.com/office/drawing/2014/main" id="{F02C6D77-F8E7-40E4-8306-AB890CE3B2DC}"/>
              </a:ext>
            </a:extLst>
          </p:cNvPr>
          <p:cNvSpPr>
            <a:spLocks xmlns:a="http://schemas.openxmlformats.org/drawingml/2006/main" noGrp="1"/>
          </p:cNvSpPr>
          <p:nvPr/>
        </p:nvSpPr>
        <p:spPr>
          <a:xfrm xmlns:a="http://schemas.openxmlformats.org/drawingml/2006/main">
            <a:off x="1143000" y="5334000"/>
            <a:ext cx="8953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17212B"/>
                </a:solidFill>
                <a:latin typeface="Aptos"/>
                <a:ea typeface="Aptos"/>
                <a:cs typeface="Aptos"/>
              </a:defRPr>
            </a:pPr>
            <a:r>
              <a:rPr sz="1800" b="1">
                <a:solidFill>
                  <a:srgbClr val="17212B"/>
                </a:solidFill>
                <a:latin typeface="Aptos"/>
                <a:ea typeface="Aptos"/>
                <a:cs typeface="Aptos"/>
              </a:rPr>
              <a:t>Measured: retrieval, recommendation quality, fidelity, equity gaps</a:t>
            </a:r>
          </a:p>
        </p:txBody>
      </p:sp>
      <p:sp>
        <p:nvSpPr>
          <p:cNvPr id="24" name="">
            <a:extLst xmlns:a="http://schemas.openxmlformats.org/drawingml/2006/main">
              <a:ext uri="{FF2B5EF4-FFF2-40B4-BE49-F238E27FC236}">
                <a16:creationId xmlns:a16="http://schemas.microsoft.com/office/drawing/2014/main" id="{E9D835F2-8F92-44F9-82E3-77114409D6A3}"/>
              </a:ext>
            </a:extLst>
          </p:cNvPr>
          <p:cNvSpPr>
            <a:spLocks xmlns:a="http://schemas.openxmlformats.org/drawingml/2006/main" noGrp="1"/>
          </p:cNvSpPr>
          <p:nvPr/>
        </p:nvSpPr>
        <p:spPr>
          <a:xfrm xmlns:a="http://schemas.openxmlformats.org/drawingml/2006/main">
            <a:off x="1143000" y="5753100"/>
            <a:ext cx="8953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0">
                <a:solidFill>
                  <a:srgbClr val="5B6673"/>
                </a:solidFill>
                <a:latin typeface="Aptos"/>
                <a:ea typeface="Aptos"/>
                <a:cs typeface="Aptos"/>
              </a:defRPr>
            </a:pPr>
            <a:r>
              <a:rPr sz="1500" b="0">
                <a:solidFill>
                  <a:srgbClr val="5B6673"/>
                </a:solidFill>
                <a:latin typeface="Aptos"/>
                <a:ea typeface="Aptos"/>
                <a:cs typeface="Aptos"/>
              </a:rPr>
              <a:t>Key result: limited-literacy users exposed lower AI concept retrieval.</a:t>
            </a:r>
          </a:p>
        </p:txBody>
      </p:sp>
    </p:spTree>
    <p:extLst>
      <p:ext uri="{BB962C8B-B14F-4D97-AF65-F5344CB8AC3E}">
        <p14:creationId xmlns:p14="http://schemas.microsoft.com/office/powerpoint/2010/main" val="952511999"/>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3076D0-E50D-4B21-B5A3-62E75F5B6ED5}"/>
              </a:ext>
            </a:extLst>
          </p:cNvPr>
          <p:cNvSpPr>
            <a:spLocks xmlns:a="http://schemas.openxmlformats.org/drawingml/2006/main" noGrp="1"/>
          </p:cNvSpPr>
          <p:nvPr/>
        </p:nvSpPr>
        <p:spPr>
          <a:xfrm xmlns:a="http://schemas.openxmlformats.org/drawingml/2006/main">
            <a:off x="609600" y="41910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D19A2A"/>
                </a:solidFill>
                <a:latin typeface="Aptos"/>
                <a:ea typeface="Aptos"/>
                <a:cs typeface="Aptos"/>
              </a:defRPr>
            </a:pPr>
            <a:r>
              <a:rPr sz="1050" b="1">
                <a:solidFill>
                  <a:srgbClr val="D19A2A"/>
                </a:solidFill>
                <a:latin typeface="Aptos"/>
                <a:ea typeface="Aptos"/>
                <a:cs typeface="Aptos"/>
              </a:rPr>
              <a:t>PAPER 2</a:t>
            </a:r>
          </a:p>
        </p:txBody>
      </p:sp>
      <p:sp>
        <p:nvSpPr>
          <p:cNvPr id="2" name="">
            <a:extLst xmlns:a="http://schemas.openxmlformats.org/drawingml/2006/main">
              <a:ext uri="{FF2B5EF4-FFF2-40B4-BE49-F238E27FC236}">
                <a16:creationId xmlns:a16="http://schemas.microsoft.com/office/drawing/2014/main" id="{20B2CF1F-B98E-4DEC-80F3-A58D1797F16F}"/>
              </a:ext>
            </a:extLst>
          </p:cNvPr>
          <p:cNvSpPr>
            <a:spLocks xmlns:a="http://schemas.openxmlformats.org/drawingml/2006/main" noGrp="1"/>
          </p:cNvSpPr>
          <p:nvPr/>
        </p:nvSpPr>
        <p:spPr>
          <a:xfrm xmlns:a="http://schemas.openxmlformats.org/drawingml/2006/main">
            <a:off x="609600" y="723900"/>
            <a:ext cx="8477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7212B"/>
                </a:solidFill>
                <a:latin typeface="Aptos Display"/>
                <a:ea typeface="Aptos Display"/>
                <a:cs typeface="Aptos Display"/>
              </a:defRPr>
            </a:pPr>
            <a:r>
              <a:rPr sz="2700" b="1">
                <a:solidFill>
                  <a:srgbClr val="17212B"/>
                </a:solidFill>
                <a:latin typeface="Aptos Display"/>
                <a:ea typeface="Aptos Display"/>
                <a:cs typeface="Aptos Display"/>
              </a:rPr>
              <a:t>Borrow persona axes, not the ED diagnosis task.</a:t>
            </a:r>
          </a:p>
        </p:txBody>
      </p:sp>
      <p:sp>
        <p:nvSpPr>
          <p:cNvPr id="3" name="">
            <a:extLst xmlns:a="http://schemas.openxmlformats.org/drawingml/2006/main">
              <a:ext uri="{FF2B5EF4-FFF2-40B4-BE49-F238E27FC236}">
                <a16:creationId xmlns:a16="http://schemas.microsoft.com/office/drawing/2014/main" id="{B1CAB81C-040A-45B2-88A8-59213CC23377}"/>
              </a:ext>
            </a:extLst>
          </p:cNvPr>
          <p:cNvSpPr>
            <a:spLocks xmlns:a="http://schemas.openxmlformats.org/drawingml/2006/main" noGrp="1"/>
          </p:cNvSpPr>
          <p:nvPr/>
        </p:nvSpPr>
        <p:spPr>
          <a:xfrm xmlns:a="http://schemas.openxmlformats.org/drawingml/2006/main">
            <a:off x="876300" y="1657350"/>
            <a:ext cx="2476500" cy="1162050"/>
          </a:xfrm>
          <a:prstGeom xmlns:a="http://schemas.openxmlformats.org/drawingml/2006/main" prst="rect">
            <a:avLst/>
          </a:prstGeom>
          <a:solidFill xmlns:a="http://schemas.openxmlformats.org/drawingml/2006/main">
            <a:srgbClr val="FFFFFF"/>
          </a:solidFill>
          <a:ln xmlns:a="http://schemas.openxmlformats.org/drawingml/2006/main" w="19050">
            <a:solidFill>
              <a:srgbClr val="D8D0C2"/>
            </a:solidFill>
            <a:prstDash val="solid"/>
          </a:ln>
        </p:spPr>
      </p:sp>
      <p:sp>
        <p:nvSpPr>
          <p:cNvPr id="4" name="">
            <a:extLst xmlns:a="http://schemas.openxmlformats.org/drawingml/2006/main">
              <a:ext uri="{FF2B5EF4-FFF2-40B4-BE49-F238E27FC236}">
                <a16:creationId xmlns:a16="http://schemas.microsoft.com/office/drawing/2014/main" id="{0478908E-45EF-4562-A5D5-6FA0E212DCD8}"/>
              </a:ext>
            </a:extLst>
          </p:cNvPr>
          <p:cNvSpPr>
            <a:spLocks xmlns:a="http://schemas.openxmlformats.org/drawingml/2006/main" noGrp="1"/>
          </p:cNvSpPr>
          <p:nvPr/>
        </p:nvSpPr>
        <p:spPr>
          <a:xfrm xmlns:a="http://schemas.openxmlformats.org/drawingml/2006/main">
            <a:off x="876300" y="1657350"/>
            <a:ext cx="2476500" cy="76200"/>
          </a:xfrm>
          <a:prstGeom xmlns:a="http://schemas.openxmlformats.org/drawingml/2006/main" prst="rect">
            <a:avLst/>
          </a:prstGeom>
          <a:solidFill xmlns:a="http://schemas.openxmlformats.org/drawingml/2006/main">
            <a:srgbClr val="D19A2A"/>
          </a:solidFill>
          <a:ln xmlns:a="http://schemas.openxmlformats.org/drawingml/2006/main" w="0">
            <a:solidFill>
              <a:srgbClr val="D19A2A"/>
            </a:solidFill>
            <a:prstDash val="solid"/>
          </a:ln>
        </p:spPr>
      </p:sp>
      <p:sp>
        <p:nvSpPr>
          <p:cNvPr id="5" name="">
            <a:extLst xmlns:a="http://schemas.openxmlformats.org/drawingml/2006/main">
              <a:ext uri="{FF2B5EF4-FFF2-40B4-BE49-F238E27FC236}">
                <a16:creationId xmlns:a16="http://schemas.microsoft.com/office/drawing/2014/main" id="{013BC001-E4E9-4CD8-9DE3-498E44859153}"/>
              </a:ext>
            </a:extLst>
          </p:cNvPr>
          <p:cNvSpPr>
            <a:spLocks xmlns:a="http://schemas.openxmlformats.org/drawingml/2006/main" noGrp="1"/>
          </p:cNvSpPr>
          <p:nvPr/>
        </p:nvSpPr>
        <p:spPr>
          <a:xfrm xmlns:a="http://schemas.openxmlformats.org/drawingml/2006/main">
            <a:off x="1047750" y="1866900"/>
            <a:ext cx="2133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D19A2A"/>
                </a:solidFill>
                <a:latin typeface="Aptos"/>
                <a:ea typeface="Aptos"/>
                <a:cs typeface="Aptos"/>
              </a:defRPr>
            </a:pPr>
            <a:r>
              <a:rPr sz="1575" b="1">
                <a:solidFill>
                  <a:srgbClr val="D19A2A"/>
                </a:solidFill>
                <a:latin typeface="Aptos"/>
                <a:ea typeface="Aptos"/>
                <a:cs typeface="Aptos"/>
              </a:rPr>
              <a:t>Personality</a:t>
            </a:r>
          </a:p>
        </p:txBody>
      </p:sp>
      <p:sp>
        <p:nvSpPr>
          <p:cNvPr id="6" name="">
            <a:extLst xmlns:a="http://schemas.openxmlformats.org/drawingml/2006/main">
              <a:ext uri="{FF2B5EF4-FFF2-40B4-BE49-F238E27FC236}">
                <a16:creationId xmlns:a16="http://schemas.microsoft.com/office/drawing/2014/main" id="{2D4335C5-E971-44CF-AF8B-F94D117CE5DD}"/>
              </a:ext>
            </a:extLst>
          </p:cNvPr>
          <p:cNvSpPr>
            <a:spLocks xmlns:a="http://schemas.openxmlformats.org/drawingml/2006/main" noGrp="1"/>
          </p:cNvSpPr>
          <p:nvPr/>
        </p:nvSpPr>
        <p:spPr>
          <a:xfrm xmlns:a="http://schemas.openxmlformats.org/drawingml/2006/main">
            <a:off x="1047750" y="2190750"/>
            <a:ext cx="21336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673"/>
                </a:solidFill>
                <a:latin typeface="Aptos"/>
                <a:ea typeface="Aptos"/>
                <a:cs typeface="Aptos"/>
              </a:defRPr>
            </a:pPr>
            <a:r>
              <a:rPr sz="1275" b="0">
                <a:solidFill>
                  <a:srgbClr val="5B6673"/>
                </a:solidFill>
                <a:latin typeface="Aptos"/>
                <a:ea typeface="Aptos"/>
                <a:cs typeface="Aptos"/>
              </a:rPr>
              <a:t>anxious, distrustful, verbose, neutral</a:t>
            </a:r>
          </a:p>
        </p:txBody>
      </p:sp>
      <p:sp>
        <p:nvSpPr>
          <p:cNvPr id="7" name="">
            <a:extLst xmlns:a="http://schemas.openxmlformats.org/drawingml/2006/main">
              <a:ext uri="{FF2B5EF4-FFF2-40B4-BE49-F238E27FC236}">
                <a16:creationId xmlns:a16="http://schemas.microsoft.com/office/drawing/2014/main" id="{A122BE8F-E23E-4EC3-B6AF-979958B5EBBE}"/>
              </a:ext>
            </a:extLst>
          </p:cNvPr>
          <p:cNvSpPr>
            <a:spLocks xmlns:a="http://schemas.openxmlformats.org/drawingml/2006/main" noGrp="1"/>
          </p:cNvSpPr>
          <p:nvPr/>
        </p:nvSpPr>
        <p:spPr>
          <a:xfrm xmlns:a="http://schemas.openxmlformats.org/drawingml/2006/main">
            <a:off x="3676650" y="1657350"/>
            <a:ext cx="2476500" cy="1162050"/>
          </a:xfrm>
          <a:prstGeom xmlns:a="http://schemas.openxmlformats.org/drawingml/2006/main" prst="rect">
            <a:avLst/>
          </a:prstGeom>
          <a:solidFill xmlns:a="http://schemas.openxmlformats.org/drawingml/2006/main">
            <a:srgbClr val="FFFFFF"/>
          </a:solidFill>
          <a:ln xmlns:a="http://schemas.openxmlformats.org/drawingml/2006/main" w="19050">
            <a:solidFill>
              <a:srgbClr val="D8D0C2"/>
            </a:solidFill>
            <a:prstDash val="solid"/>
          </a:ln>
        </p:spPr>
      </p:sp>
      <p:sp>
        <p:nvSpPr>
          <p:cNvPr id="8" name="">
            <a:extLst xmlns:a="http://schemas.openxmlformats.org/drawingml/2006/main">
              <a:ext uri="{FF2B5EF4-FFF2-40B4-BE49-F238E27FC236}">
                <a16:creationId xmlns:a16="http://schemas.microsoft.com/office/drawing/2014/main" id="{746E32A9-787F-49E3-AF98-B9255EE98259}"/>
              </a:ext>
            </a:extLst>
          </p:cNvPr>
          <p:cNvSpPr>
            <a:spLocks xmlns:a="http://schemas.openxmlformats.org/drawingml/2006/main" noGrp="1"/>
          </p:cNvSpPr>
          <p:nvPr/>
        </p:nvSpPr>
        <p:spPr>
          <a:xfrm xmlns:a="http://schemas.openxmlformats.org/drawingml/2006/main">
            <a:off x="3676650" y="1657350"/>
            <a:ext cx="2476500" cy="7620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9" name="">
            <a:extLst xmlns:a="http://schemas.openxmlformats.org/drawingml/2006/main">
              <a:ext uri="{FF2B5EF4-FFF2-40B4-BE49-F238E27FC236}">
                <a16:creationId xmlns:a16="http://schemas.microsoft.com/office/drawing/2014/main" id="{38AAA224-AA03-4654-995C-F19BB8FC6A15}"/>
              </a:ext>
            </a:extLst>
          </p:cNvPr>
          <p:cNvSpPr>
            <a:spLocks xmlns:a="http://schemas.openxmlformats.org/drawingml/2006/main" noGrp="1"/>
          </p:cNvSpPr>
          <p:nvPr/>
        </p:nvSpPr>
        <p:spPr>
          <a:xfrm xmlns:a="http://schemas.openxmlformats.org/drawingml/2006/main">
            <a:off x="3848100" y="1866900"/>
            <a:ext cx="2133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F7D78"/>
                </a:solidFill>
                <a:latin typeface="Aptos"/>
                <a:ea typeface="Aptos"/>
                <a:cs typeface="Aptos"/>
              </a:defRPr>
            </a:pPr>
            <a:r>
              <a:rPr sz="1575" b="1">
                <a:solidFill>
                  <a:srgbClr val="2F7D78"/>
                </a:solidFill>
                <a:latin typeface="Aptos"/>
                <a:ea typeface="Aptos"/>
                <a:cs typeface="Aptos"/>
              </a:rPr>
              <a:t>Language level</a:t>
            </a:r>
          </a:p>
        </p:txBody>
      </p:sp>
      <p:sp>
        <p:nvSpPr>
          <p:cNvPr id="10" name="">
            <a:extLst xmlns:a="http://schemas.openxmlformats.org/drawingml/2006/main">
              <a:ext uri="{FF2B5EF4-FFF2-40B4-BE49-F238E27FC236}">
                <a16:creationId xmlns:a16="http://schemas.microsoft.com/office/drawing/2014/main" id="{AF897E93-434A-4FD4-8561-C44B6D8069F6}"/>
              </a:ext>
            </a:extLst>
          </p:cNvPr>
          <p:cNvSpPr>
            <a:spLocks xmlns:a="http://schemas.openxmlformats.org/drawingml/2006/main" noGrp="1"/>
          </p:cNvSpPr>
          <p:nvPr/>
        </p:nvSpPr>
        <p:spPr>
          <a:xfrm xmlns:a="http://schemas.openxmlformats.org/drawingml/2006/main">
            <a:off x="3848100" y="2190750"/>
            <a:ext cx="21336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673"/>
                </a:solidFill>
                <a:latin typeface="Aptos"/>
                <a:ea typeface="Aptos"/>
                <a:cs typeface="Aptos"/>
              </a:defRPr>
            </a:pPr>
            <a:r>
              <a:rPr sz="1275" b="0">
                <a:solidFill>
                  <a:srgbClr val="5B6673"/>
                </a:solidFill>
                <a:latin typeface="Aptos"/>
                <a:ea typeface="Aptos"/>
                <a:cs typeface="Aptos"/>
              </a:rPr>
              <a:t>basic, intermediate, advanced</a:t>
            </a:r>
          </a:p>
        </p:txBody>
      </p:sp>
      <p:sp>
        <p:nvSpPr>
          <p:cNvPr id="11" name="">
            <a:extLst xmlns:a="http://schemas.openxmlformats.org/drawingml/2006/main">
              <a:ext uri="{FF2B5EF4-FFF2-40B4-BE49-F238E27FC236}">
                <a16:creationId xmlns:a16="http://schemas.microsoft.com/office/drawing/2014/main" id="{66B38D1D-78F7-4327-A4DE-2FC277B6CCA3}"/>
              </a:ext>
            </a:extLst>
          </p:cNvPr>
          <p:cNvSpPr>
            <a:spLocks xmlns:a="http://schemas.openxmlformats.org/drawingml/2006/main" noGrp="1"/>
          </p:cNvSpPr>
          <p:nvPr/>
        </p:nvSpPr>
        <p:spPr>
          <a:xfrm xmlns:a="http://schemas.openxmlformats.org/drawingml/2006/main">
            <a:off x="6477000" y="1657350"/>
            <a:ext cx="2476500" cy="1162050"/>
          </a:xfrm>
          <a:prstGeom xmlns:a="http://schemas.openxmlformats.org/drawingml/2006/main" prst="rect">
            <a:avLst/>
          </a:prstGeom>
          <a:solidFill xmlns:a="http://schemas.openxmlformats.org/drawingml/2006/main">
            <a:srgbClr val="FFFFFF"/>
          </a:solidFill>
          <a:ln xmlns:a="http://schemas.openxmlformats.org/drawingml/2006/main" w="19050">
            <a:solidFill>
              <a:srgbClr val="D8D0C2"/>
            </a:solidFill>
            <a:prstDash val="solid"/>
          </a:ln>
        </p:spPr>
      </p:sp>
      <p:sp>
        <p:nvSpPr>
          <p:cNvPr id="12" name="">
            <a:extLst xmlns:a="http://schemas.openxmlformats.org/drawingml/2006/main">
              <a:ext uri="{FF2B5EF4-FFF2-40B4-BE49-F238E27FC236}">
                <a16:creationId xmlns:a16="http://schemas.microsoft.com/office/drawing/2014/main" id="{E9A06191-7F4B-4C00-96BB-B40D887901F5}"/>
              </a:ext>
            </a:extLst>
          </p:cNvPr>
          <p:cNvSpPr>
            <a:spLocks xmlns:a="http://schemas.openxmlformats.org/drawingml/2006/main" noGrp="1"/>
          </p:cNvSpPr>
          <p:nvPr/>
        </p:nvSpPr>
        <p:spPr>
          <a:xfrm xmlns:a="http://schemas.openxmlformats.org/drawingml/2006/main">
            <a:off x="6477000" y="1657350"/>
            <a:ext cx="2476500" cy="76200"/>
          </a:xfrm>
          <a:prstGeom xmlns:a="http://schemas.openxmlformats.org/drawingml/2006/main" prst="rect">
            <a:avLst/>
          </a:prstGeom>
          <a:solidFill xmlns:a="http://schemas.openxmlformats.org/drawingml/2006/main">
            <a:srgbClr val="285C7D"/>
          </a:solidFill>
          <a:ln xmlns:a="http://schemas.openxmlformats.org/drawingml/2006/main" w="0">
            <a:solidFill>
              <a:srgbClr val="285C7D"/>
            </a:solidFill>
            <a:prstDash val="solid"/>
          </a:ln>
        </p:spPr>
      </p:sp>
      <p:sp>
        <p:nvSpPr>
          <p:cNvPr id="13" name="">
            <a:extLst xmlns:a="http://schemas.openxmlformats.org/drawingml/2006/main">
              <a:ext uri="{FF2B5EF4-FFF2-40B4-BE49-F238E27FC236}">
                <a16:creationId xmlns:a16="http://schemas.microsoft.com/office/drawing/2014/main" id="{BD5A6BE3-257F-4EEF-B90F-66E98B1CE04D}"/>
              </a:ext>
            </a:extLst>
          </p:cNvPr>
          <p:cNvSpPr>
            <a:spLocks xmlns:a="http://schemas.openxmlformats.org/drawingml/2006/main" noGrp="1"/>
          </p:cNvSpPr>
          <p:nvPr/>
        </p:nvSpPr>
        <p:spPr>
          <a:xfrm xmlns:a="http://schemas.openxmlformats.org/drawingml/2006/main">
            <a:off x="6648450" y="1866900"/>
            <a:ext cx="2133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85C7D"/>
                </a:solidFill>
                <a:latin typeface="Aptos"/>
                <a:ea typeface="Aptos"/>
                <a:cs typeface="Aptos"/>
              </a:defRPr>
            </a:pPr>
            <a:r>
              <a:rPr sz="1575" b="1">
                <a:solidFill>
                  <a:srgbClr val="285C7D"/>
                </a:solidFill>
                <a:latin typeface="Aptos"/>
                <a:ea typeface="Aptos"/>
                <a:cs typeface="Aptos"/>
              </a:rPr>
              <a:t>Recall</a:t>
            </a:r>
          </a:p>
        </p:txBody>
      </p:sp>
      <p:sp>
        <p:nvSpPr>
          <p:cNvPr id="14" name="">
            <a:extLst xmlns:a="http://schemas.openxmlformats.org/drawingml/2006/main">
              <a:ext uri="{FF2B5EF4-FFF2-40B4-BE49-F238E27FC236}">
                <a16:creationId xmlns:a16="http://schemas.microsoft.com/office/drawing/2014/main" id="{94F7F655-51D7-41C4-9B8F-07D595E9DFD9}"/>
              </a:ext>
            </a:extLst>
          </p:cNvPr>
          <p:cNvSpPr>
            <a:spLocks xmlns:a="http://schemas.openxmlformats.org/drawingml/2006/main" noGrp="1"/>
          </p:cNvSpPr>
          <p:nvPr/>
        </p:nvSpPr>
        <p:spPr>
          <a:xfrm xmlns:a="http://schemas.openxmlformats.org/drawingml/2006/main">
            <a:off x="6648450" y="2190750"/>
            <a:ext cx="21336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673"/>
                </a:solidFill>
                <a:latin typeface="Aptos"/>
                <a:ea typeface="Aptos"/>
                <a:cs typeface="Aptos"/>
              </a:defRPr>
            </a:pPr>
            <a:r>
              <a:rPr sz="1275" b="0">
                <a:solidFill>
                  <a:srgbClr val="5B6673"/>
                </a:solidFill>
                <a:latin typeface="Aptos"/>
                <a:ea typeface="Aptos"/>
                <a:cs typeface="Aptos"/>
              </a:rPr>
              <a:t>high recall vs vague/partial recall</a:t>
            </a:r>
          </a:p>
        </p:txBody>
      </p:sp>
      <p:sp>
        <p:nvSpPr>
          <p:cNvPr id="15" name="">
            <a:extLst xmlns:a="http://schemas.openxmlformats.org/drawingml/2006/main">
              <a:ext uri="{FF2B5EF4-FFF2-40B4-BE49-F238E27FC236}">
                <a16:creationId xmlns:a16="http://schemas.microsoft.com/office/drawing/2014/main" id="{DFF95737-E951-4777-BD69-E94B5430A59E}"/>
              </a:ext>
            </a:extLst>
          </p:cNvPr>
          <p:cNvSpPr>
            <a:spLocks xmlns:a="http://schemas.openxmlformats.org/drawingml/2006/main" noGrp="1"/>
          </p:cNvSpPr>
          <p:nvPr/>
        </p:nvSpPr>
        <p:spPr>
          <a:xfrm xmlns:a="http://schemas.openxmlformats.org/drawingml/2006/main">
            <a:off x="9277350" y="1657350"/>
            <a:ext cx="2476500" cy="1162050"/>
          </a:xfrm>
          <a:prstGeom xmlns:a="http://schemas.openxmlformats.org/drawingml/2006/main" prst="rect">
            <a:avLst/>
          </a:prstGeom>
          <a:solidFill xmlns:a="http://schemas.openxmlformats.org/drawingml/2006/main">
            <a:srgbClr val="FFFFFF"/>
          </a:solidFill>
          <a:ln xmlns:a="http://schemas.openxmlformats.org/drawingml/2006/main" w="19050">
            <a:solidFill>
              <a:srgbClr val="D8D0C2"/>
            </a:solidFill>
            <a:prstDash val="solid"/>
          </a:ln>
        </p:spPr>
      </p:sp>
      <p:sp>
        <p:nvSpPr>
          <p:cNvPr id="16" name="">
            <a:extLst xmlns:a="http://schemas.openxmlformats.org/drawingml/2006/main">
              <a:ext uri="{FF2B5EF4-FFF2-40B4-BE49-F238E27FC236}">
                <a16:creationId xmlns:a16="http://schemas.microsoft.com/office/drawing/2014/main" id="{C2C0208E-288E-4C9D-99F3-7C3B3412DC41}"/>
              </a:ext>
            </a:extLst>
          </p:cNvPr>
          <p:cNvSpPr>
            <a:spLocks xmlns:a="http://schemas.openxmlformats.org/drawingml/2006/main" noGrp="1"/>
          </p:cNvSpPr>
          <p:nvPr/>
        </p:nvSpPr>
        <p:spPr>
          <a:xfrm xmlns:a="http://schemas.openxmlformats.org/drawingml/2006/main">
            <a:off x="9277350" y="1657350"/>
            <a:ext cx="2476500" cy="76200"/>
          </a:xfrm>
          <a:prstGeom xmlns:a="http://schemas.openxmlformats.org/drawingml/2006/main" prst="rect">
            <a:avLst/>
          </a:prstGeom>
          <a:solidFill xmlns:a="http://schemas.openxmlformats.org/drawingml/2006/main">
            <a:srgbClr val="B85C38"/>
          </a:solidFill>
          <a:ln xmlns:a="http://schemas.openxmlformats.org/drawingml/2006/main" w="0">
            <a:solidFill>
              <a:srgbClr val="B85C38"/>
            </a:solidFill>
            <a:prstDash val="solid"/>
          </a:ln>
        </p:spPr>
      </p:sp>
      <p:sp>
        <p:nvSpPr>
          <p:cNvPr id="17" name="">
            <a:extLst xmlns:a="http://schemas.openxmlformats.org/drawingml/2006/main">
              <a:ext uri="{FF2B5EF4-FFF2-40B4-BE49-F238E27FC236}">
                <a16:creationId xmlns:a16="http://schemas.microsoft.com/office/drawing/2014/main" id="{710BB60B-F6F0-48B9-A611-9EAAE343BA68}"/>
              </a:ext>
            </a:extLst>
          </p:cNvPr>
          <p:cNvSpPr>
            <a:spLocks xmlns:a="http://schemas.openxmlformats.org/drawingml/2006/main" noGrp="1"/>
          </p:cNvSpPr>
          <p:nvPr/>
        </p:nvSpPr>
        <p:spPr>
          <a:xfrm xmlns:a="http://schemas.openxmlformats.org/drawingml/2006/main">
            <a:off x="9448800" y="1866900"/>
            <a:ext cx="2133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B85C38"/>
                </a:solidFill>
                <a:latin typeface="Aptos"/>
                <a:ea typeface="Aptos"/>
                <a:cs typeface="Aptos"/>
              </a:defRPr>
            </a:pPr>
            <a:r>
              <a:rPr sz="1575" b="1">
                <a:solidFill>
                  <a:srgbClr val="B85C38"/>
                </a:solidFill>
                <a:latin typeface="Aptos"/>
                <a:ea typeface="Aptos"/>
                <a:cs typeface="Aptos"/>
              </a:rPr>
              <a:t>Confusion</a:t>
            </a:r>
          </a:p>
        </p:txBody>
      </p:sp>
      <p:sp>
        <p:nvSpPr>
          <p:cNvPr id="18" name="">
            <a:extLst xmlns:a="http://schemas.openxmlformats.org/drawingml/2006/main">
              <a:ext uri="{FF2B5EF4-FFF2-40B4-BE49-F238E27FC236}">
                <a16:creationId xmlns:a16="http://schemas.microsoft.com/office/drawing/2014/main" id="{E3A0DAC3-E898-491C-AD1B-0CA88D3A118A}"/>
              </a:ext>
            </a:extLst>
          </p:cNvPr>
          <p:cNvSpPr>
            <a:spLocks xmlns:a="http://schemas.openxmlformats.org/drawingml/2006/main" noGrp="1"/>
          </p:cNvSpPr>
          <p:nvPr/>
        </p:nvSpPr>
        <p:spPr>
          <a:xfrm xmlns:a="http://schemas.openxmlformats.org/drawingml/2006/main">
            <a:off x="9448800" y="2190750"/>
            <a:ext cx="21336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673"/>
                </a:solidFill>
                <a:latin typeface="Aptos"/>
                <a:ea typeface="Aptos"/>
                <a:cs typeface="Aptos"/>
              </a:defRPr>
            </a:pPr>
            <a:r>
              <a:rPr sz="1275" b="0">
                <a:solidFill>
                  <a:srgbClr val="5B6673"/>
                </a:solidFill>
                <a:latin typeface="Aptos"/>
                <a:ea typeface="Aptos"/>
                <a:cs typeface="Aptos"/>
              </a:rPr>
              <a:t>normal vs confused/dazed</a:t>
            </a:r>
          </a:p>
        </p:txBody>
      </p:sp>
      <p:sp>
        <p:nvSpPr>
          <p:cNvPr id="19" name="">
            <a:extLst xmlns:a="http://schemas.openxmlformats.org/drawingml/2006/main">
              <a:ext uri="{FF2B5EF4-FFF2-40B4-BE49-F238E27FC236}">
                <a16:creationId xmlns:a16="http://schemas.microsoft.com/office/drawing/2014/main" id="{E95FF7D3-1237-4E25-B633-4082D4F0A931}"/>
              </a:ext>
            </a:extLst>
          </p:cNvPr>
          <p:cNvSpPr>
            <a:spLocks xmlns:a="http://schemas.openxmlformats.org/drawingml/2006/main" noGrp="1"/>
          </p:cNvSpPr>
          <p:nvPr/>
        </p:nvSpPr>
        <p:spPr>
          <a:xfrm xmlns:a="http://schemas.openxmlformats.org/drawingml/2006/main">
            <a:off x="1143000" y="3905250"/>
            <a:ext cx="9525000" cy="19050"/>
          </a:xfrm>
          <a:prstGeom xmlns:a="http://schemas.openxmlformats.org/drawingml/2006/main" prst="rect">
            <a:avLst/>
          </a:prstGeom>
          <a:solidFill xmlns:a="http://schemas.openxmlformats.org/drawingml/2006/main">
            <a:srgbClr val="D8D0C2"/>
          </a:solidFill>
          <a:ln xmlns:a="http://schemas.openxmlformats.org/drawingml/2006/main" w="0">
            <a:solidFill>
              <a:srgbClr val="D8D0C2"/>
            </a:solidFill>
            <a:prstDash val="solid"/>
          </a:ln>
        </p:spPr>
      </p:sp>
      <p:sp>
        <p:nvSpPr>
          <p:cNvPr id="20" name="">
            <a:extLst xmlns:a="http://schemas.openxmlformats.org/drawingml/2006/main">
              <a:ext uri="{FF2B5EF4-FFF2-40B4-BE49-F238E27FC236}">
                <a16:creationId xmlns:a16="http://schemas.microsoft.com/office/drawing/2014/main" id="{68EF6F6F-A120-461B-84E2-8B992D81FA83}"/>
              </a:ext>
            </a:extLst>
          </p:cNvPr>
          <p:cNvSpPr>
            <a:spLocks xmlns:a="http://schemas.openxmlformats.org/drawingml/2006/main" noGrp="1"/>
          </p:cNvSpPr>
          <p:nvPr/>
        </p:nvSpPr>
        <p:spPr>
          <a:xfrm xmlns:a="http://schemas.openxmlformats.org/drawingml/2006/main">
            <a:off x="2762250" y="3676650"/>
            <a:ext cx="476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17212B"/>
                </a:solidFill>
                <a:latin typeface="Aptos"/>
                <a:ea typeface="Aptos"/>
                <a:cs typeface="Aptos"/>
              </a:defRPr>
            </a:pPr>
            <a:r>
              <a:rPr sz="1800" b="1">
                <a:solidFill>
                  <a:srgbClr val="17212B"/>
                </a:solidFill>
                <a:latin typeface="Aptos"/>
                <a:ea typeface="Aptos"/>
                <a:cs typeface="Aptos"/>
              </a:rPr>
              <a:t>Translate to 4Ms older-adult simulation</a:t>
            </a:r>
          </a:p>
        </p:txBody>
      </p:sp>
      <p:sp>
        <p:nvSpPr>
          <p:cNvPr id="21" name="">
            <a:extLst xmlns:a="http://schemas.openxmlformats.org/drawingml/2006/main">
              <a:ext uri="{FF2B5EF4-FFF2-40B4-BE49-F238E27FC236}">
                <a16:creationId xmlns:a16="http://schemas.microsoft.com/office/drawing/2014/main" id="{47550C85-F9CB-495B-9E88-1D49CC9583E0}"/>
              </a:ext>
            </a:extLst>
          </p:cNvPr>
          <p:cNvSpPr>
            <a:spLocks xmlns:a="http://schemas.openxmlformats.org/drawingml/2006/main" noGrp="1"/>
          </p:cNvSpPr>
          <p:nvPr/>
        </p:nvSpPr>
        <p:spPr>
          <a:xfrm xmlns:a="http://schemas.openxmlformats.org/drawingml/2006/main">
            <a:off x="1123950" y="4457700"/>
            <a:ext cx="2209800" cy="876300"/>
          </a:xfrm>
          <a:prstGeom xmlns:a="http://schemas.openxmlformats.org/drawingml/2006/main" prst="rect">
            <a:avLst/>
          </a:prstGeom>
          <a:solidFill xmlns:a="http://schemas.openxmlformats.org/drawingml/2006/main">
            <a:srgbClr val="FFF8EB"/>
          </a:solidFill>
          <a:ln xmlns:a="http://schemas.openxmlformats.org/drawingml/2006/main" w="9525">
            <a:solidFill>
              <a:srgbClr val="D8D0C2"/>
            </a:solidFill>
            <a:prstDash val="solid"/>
          </a:ln>
        </p:spPr>
      </p:sp>
      <p:sp>
        <p:nvSpPr>
          <p:cNvPr id="22" name="">
            <a:extLst xmlns:a="http://schemas.openxmlformats.org/drawingml/2006/main">
              <a:ext uri="{FF2B5EF4-FFF2-40B4-BE49-F238E27FC236}">
                <a16:creationId xmlns:a16="http://schemas.microsoft.com/office/drawing/2014/main" id="{2CB05201-7ADC-499A-8602-A348F4336372}"/>
              </a:ext>
            </a:extLst>
          </p:cNvPr>
          <p:cNvSpPr>
            <a:spLocks xmlns:a="http://schemas.openxmlformats.org/drawingml/2006/main" noGrp="1"/>
          </p:cNvSpPr>
          <p:nvPr/>
        </p:nvSpPr>
        <p:spPr>
          <a:xfrm xmlns:a="http://schemas.openxmlformats.org/drawingml/2006/main">
            <a:off x="1257300" y="4648200"/>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7212B"/>
                </a:solidFill>
                <a:latin typeface="Aptos"/>
                <a:ea typeface="Aptos"/>
                <a:cs typeface="Aptos"/>
              </a:defRPr>
            </a:pPr>
            <a:r>
              <a:rPr sz="1500" b="1">
                <a:solidFill>
                  <a:srgbClr val="17212B"/>
                </a:solidFill>
                <a:latin typeface="Aptos"/>
                <a:ea typeface="Aptos"/>
                <a:cs typeface="Aptos"/>
              </a:rPr>
              <a:t>Medication</a:t>
            </a:r>
          </a:p>
        </p:txBody>
      </p:sp>
      <p:sp>
        <p:nvSpPr>
          <p:cNvPr id="23" name="">
            <a:extLst xmlns:a="http://schemas.openxmlformats.org/drawingml/2006/main">
              <a:ext uri="{FF2B5EF4-FFF2-40B4-BE49-F238E27FC236}">
                <a16:creationId xmlns:a16="http://schemas.microsoft.com/office/drawing/2014/main" id="{3D5FDC6D-2973-408A-92B1-83817B271D93}"/>
              </a:ext>
            </a:extLst>
          </p:cNvPr>
          <p:cNvSpPr>
            <a:spLocks xmlns:a="http://schemas.openxmlformats.org/drawingml/2006/main" noGrp="1"/>
          </p:cNvSpPr>
          <p:nvPr/>
        </p:nvSpPr>
        <p:spPr>
          <a:xfrm xmlns:a="http://schemas.openxmlformats.org/drawingml/2006/main">
            <a:off x="1257300" y="4953000"/>
            <a:ext cx="1943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5B6673"/>
                </a:solidFill>
                <a:latin typeface="Aptos"/>
                <a:ea typeface="Aptos"/>
                <a:cs typeface="Aptos"/>
              </a:defRPr>
            </a:pPr>
            <a:r>
              <a:rPr sz="1200" b="0">
                <a:solidFill>
                  <a:srgbClr val="5B6673"/>
                </a:solidFill>
                <a:latin typeface="Aptos"/>
                <a:ea typeface="Aptos"/>
                <a:cs typeface="Aptos"/>
              </a:rPr>
              <a:t>missed doses, side effects, cost</a:t>
            </a:r>
          </a:p>
        </p:txBody>
      </p:sp>
      <p:sp>
        <p:nvSpPr>
          <p:cNvPr id="24" name="">
            <a:extLst xmlns:a="http://schemas.openxmlformats.org/drawingml/2006/main">
              <a:ext uri="{FF2B5EF4-FFF2-40B4-BE49-F238E27FC236}">
                <a16:creationId xmlns:a16="http://schemas.microsoft.com/office/drawing/2014/main" id="{61A587FD-12D3-464E-B1E6-B1BF1BA5EA57}"/>
              </a:ext>
            </a:extLst>
          </p:cNvPr>
          <p:cNvSpPr>
            <a:spLocks xmlns:a="http://schemas.openxmlformats.org/drawingml/2006/main" noGrp="1"/>
          </p:cNvSpPr>
          <p:nvPr/>
        </p:nvSpPr>
        <p:spPr>
          <a:xfrm xmlns:a="http://schemas.openxmlformats.org/drawingml/2006/main">
            <a:off x="3905250" y="4457700"/>
            <a:ext cx="2209800" cy="876300"/>
          </a:xfrm>
          <a:prstGeom xmlns:a="http://schemas.openxmlformats.org/drawingml/2006/main" prst="rect">
            <a:avLst/>
          </a:prstGeom>
          <a:solidFill xmlns:a="http://schemas.openxmlformats.org/drawingml/2006/main">
            <a:srgbClr val="FFF8EB"/>
          </a:solidFill>
          <a:ln xmlns:a="http://schemas.openxmlformats.org/drawingml/2006/main" w="9525">
            <a:solidFill>
              <a:srgbClr val="D8D0C2"/>
            </a:solidFill>
            <a:prstDash val="solid"/>
          </a:ln>
        </p:spPr>
      </p:sp>
      <p:sp>
        <p:nvSpPr>
          <p:cNvPr id="25" name="">
            <a:extLst xmlns:a="http://schemas.openxmlformats.org/drawingml/2006/main">
              <a:ext uri="{FF2B5EF4-FFF2-40B4-BE49-F238E27FC236}">
                <a16:creationId xmlns:a16="http://schemas.microsoft.com/office/drawing/2014/main" id="{6C024C37-2F9A-4D4C-83A7-4BB316B1B367}"/>
              </a:ext>
            </a:extLst>
          </p:cNvPr>
          <p:cNvSpPr>
            <a:spLocks xmlns:a="http://schemas.openxmlformats.org/drawingml/2006/main" noGrp="1"/>
          </p:cNvSpPr>
          <p:nvPr/>
        </p:nvSpPr>
        <p:spPr>
          <a:xfrm xmlns:a="http://schemas.openxmlformats.org/drawingml/2006/main">
            <a:off x="4038600" y="4648200"/>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7212B"/>
                </a:solidFill>
                <a:latin typeface="Aptos"/>
                <a:ea typeface="Aptos"/>
                <a:cs typeface="Aptos"/>
              </a:defRPr>
            </a:pPr>
            <a:r>
              <a:rPr sz="1500" b="1">
                <a:solidFill>
                  <a:srgbClr val="17212B"/>
                </a:solidFill>
                <a:latin typeface="Aptos"/>
                <a:ea typeface="Aptos"/>
                <a:cs typeface="Aptos"/>
              </a:rPr>
              <a:t>Mentation</a:t>
            </a:r>
          </a:p>
        </p:txBody>
      </p:sp>
      <p:sp>
        <p:nvSpPr>
          <p:cNvPr id="26" name="">
            <a:extLst xmlns:a="http://schemas.openxmlformats.org/drawingml/2006/main">
              <a:ext uri="{FF2B5EF4-FFF2-40B4-BE49-F238E27FC236}">
                <a16:creationId xmlns:a16="http://schemas.microsoft.com/office/drawing/2014/main" id="{96FC34F1-9081-4544-A3E2-47332573B75D}"/>
              </a:ext>
            </a:extLst>
          </p:cNvPr>
          <p:cNvSpPr>
            <a:spLocks xmlns:a="http://schemas.openxmlformats.org/drawingml/2006/main" noGrp="1"/>
          </p:cNvSpPr>
          <p:nvPr/>
        </p:nvSpPr>
        <p:spPr>
          <a:xfrm xmlns:a="http://schemas.openxmlformats.org/drawingml/2006/main">
            <a:off x="4038600" y="4953000"/>
            <a:ext cx="1943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5B6673"/>
                </a:solidFill>
                <a:latin typeface="Aptos"/>
                <a:ea typeface="Aptos"/>
                <a:cs typeface="Aptos"/>
              </a:defRPr>
            </a:pPr>
            <a:r>
              <a:rPr sz="1200" b="0">
                <a:solidFill>
                  <a:srgbClr val="5B6673"/>
                </a:solidFill>
                <a:latin typeface="Aptos"/>
                <a:ea typeface="Aptos"/>
                <a:cs typeface="Aptos"/>
              </a:rPr>
              <a:t>memory worry, sleep, stress</a:t>
            </a:r>
          </a:p>
        </p:txBody>
      </p:sp>
      <p:sp>
        <p:nvSpPr>
          <p:cNvPr id="27" name="">
            <a:extLst xmlns:a="http://schemas.openxmlformats.org/drawingml/2006/main">
              <a:ext uri="{FF2B5EF4-FFF2-40B4-BE49-F238E27FC236}">
                <a16:creationId xmlns:a16="http://schemas.microsoft.com/office/drawing/2014/main" id="{142A2064-3018-404C-BCEE-7F6B8A8576C4}"/>
              </a:ext>
            </a:extLst>
          </p:cNvPr>
          <p:cNvSpPr>
            <a:spLocks xmlns:a="http://schemas.openxmlformats.org/drawingml/2006/main" noGrp="1"/>
          </p:cNvSpPr>
          <p:nvPr/>
        </p:nvSpPr>
        <p:spPr>
          <a:xfrm xmlns:a="http://schemas.openxmlformats.org/drawingml/2006/main">
            <a:off x="6686550" y="4457700"/>
            <a:ext cx="2209800" cy="876300"/>
          </a:xfrm>
          <a:prstGeom xmlns:a="http://schemas.openxmlformats.org/drawingml/2006/main" prst="rect">
            <a:avLst/>
          </a:prstGeom>
          <a:solidFill xmlns:a="http://schemas.openxmlformats.org/drawingml/2006/main">
            <a:srgbClr val="FFF8EB"/>
          </a:solidFill>
          <a:ln xmlns:a="http://schemas.openxmlformats.org/drawingml/2006/main" w="9525">
            <a:solidFill>
              <a:srgbClr val="D8D0C2"/>
            </a:solidFill>
            <a:prstDash val="solid"/>
          </a:ln>
        </p:spPr>
      </p:sp>
      <p:sp>
        <p:nvSpPr>
          <p:cNvPr id="28" name="">
            <a:extLst xmlns:a="http://schemas.openxmlformats.org/drawingml/2006/main">
              <a:ext uri="{FF2B5EF4-FFF2-40B4-BE49-F238E27FC236}">
                <a16:creationId xmlns:a16="http://schemas.microsoft.com/office/drawing/2014/main" id="{0B859F9F-0A8B-4AB3-BEC5-03AF15C14E32}"/>
              </a:ext>
            </a:extLst>
          </p:cNvPr>
          <p:cNvSpPr>
            <a:spLocks xmlns:a="http://schemas.openxmlformats.org/drawingml/2006/main" noGrp="1"/>
          </p:cNvSpPr>
          <p:nvPr/>
        </p:nvSpPr>
        <p:spPr>
          <a:xfrm xmlns:a="http://schemas.openxmlformats.org/drawingml/2006/main">
            <a:off x="6819900" y="4648200"/>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7212B"/>
                </a:solidFill>
                <a:latin typeface="Aptos"/>
                <a:ea typeface="Aptos"/>
                <a:cs typeface="Aptos"/>
              </a:defRPr>
            </a:pPr>
            <a:r>
              <a:rPr sz="1500" b="1">
                <a:solidFill>
                  <a:srgbClr val="17212B"/>
                </a:solidFill>
                <a:latin typeface="Aptos"/>
                <a:ea typeface="Aptos"/>
                <a:cs typeface="Aptos"/>
              </a:rPr>
              <a:t>Mobility</a:t>
            </a:r>
          </a:p>
        </p:txBody>
      </p:sp>
      <p:sp>
        <p:nvSpPr>
          <p:cNvPr id="29" name="">
            <a:extLst xmlns:a="http://schemas.openxmlformats.org/drawingml/2006/main">
              <a:ext uri="{FF2B5EF4-FFF2-40B4-BE49-F238E27FC236}">
                <a16:creationId xmlns:a16="http://schemas.microsoft.com/office/drawing/2014/main" id="{9C43FB6B-8182-4BF1-B103-A07207363223}"/>
              </a:ext>
            </a:extLst>
          </p:cNvPr>
          <p:cNvSpPr>
            <a:spLocks xmlns:a="http://schemas.openxmlformats.org/drawingml/2006/main" noGrp="1"/>
          </p:cNvSpPr>
          <p:nvPr/>
        </p:nvSpPr>
        <p:spPr>
          <a:xfrm xmlns:a="http://schemas.openxmlformats.org/drawingml/2006/main">
            <a:off x="6819900" y="4953000"/>
            <a:ext cx="1943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5B6673"/>
                </a:solidFill>
                <a:latin typeface="Aptos"/>
                <a:ea typeface="Aptos"/>
                <a:cs typeface="Aptos"/>
              </a:defRPr>
            </a:pPr>
            <a:r>
              <a:rPr sz="1200" b="0">
                <a:solidFill>
                  <a:srgbClr val="5B6673"/>
                </a:solidFill>
                <a:latin typeface="Aptos"/>
                <a:ea typeface="Aptos"/>
                <a:cs typeface="Aptos"/>
              </a:rPr>
              <a:t>falls, dizziness, walker/wheelchair</a:t>
            </a:r>
          </a:p>
        </p:txBody>
      </p:sp>
      <p:sp>
        <p:nvSpPr>
          <p:cNvPr id="30" name="">
            <a:extLst xmlns:a="http://schemas.openxmlformats.org/drawingml/2006/main">
              <a:ext uri="{FF2B5EF4-FFF2-40B4-BE49-F238E27FC236}">
                <a16:creationId xmlns:a16="http://schemas.microsoft.com/office/drawing/2014/main" id="{87D09E5D-6C9E-448D-9B5D-3AB8DE9E9D0F}"/>
              </a:ext>
            </a:extLst>
          </p:cNvPr>
          <p:cNvSpPr>
            <a:spLocks xmlns:a="http://schemas.openxmlformats.org/drawingml/2006/main" noGrp="1"/>
          </p:cNvSpPr>
          <p:nvPr/>
        </p:nvSpPr>
        <p:spPr>
          <a:xfrm xmlns:a="http://schemas.openxmlformats.org/drawingml/2006/main">
            <a:off x="9467850" y="4457700"/>
            <a:ext cx="2209800" cy="876300"/>
          </a:xfrm>
          <a:prstGeom xmlns:a="http://schemas.openxmlformats.org/drawingml/2006/main" prst="rect">
            <a:avLst/>
          </a:prstGeom>
          <a:solidFill xmlns:a="http://schemas.openxmlformats.org/drawingml/2006/main">
            <a:srgbClr val="FFF8EB"/>
          </a:solidFill>
          <a:ln xmlns:a="http://schemas.openxmlformats.org/drawingml/2006/main" w="9525">
            <a:solidFill>
              <a:srgbClr val="D8D0C2"/>
            </a:solidFill>
            <a:prstDash val="solid"/>
          </a:ln>
        </p:spPr>
      </p:sp>
      <p:sp>
        <p:nvSpPr>
          <p:cNvPr id="31" name="">
            <a:extLst xmlns:a="http://schemas.openxmlformats.org/drawingml/2006/main">
              <a:ext uri="{FF2B5EF4-FFF2-40B4-BE49-F238E27FC236}">
                <a16:creationId xmlns:a16="http://schemas.microsoft.com/office/drawing/2014/main" id="{ABBD7656-DA59-49EB-8AC4-436F0324D254}"/>
              </a:ext>
            </a:extLst>
          </p:cNvPr>
          <p:cNvSpPr>
            <a:spLocks xmlns:a="http://schemas.openxmlformats.org/drawingml/2006/main" noGrp="1"/>
          </p:cNvSpPr>
          <p:nvPr/>
        </p:nvSpPr>
        <p:spPr>
          <a:xfrm xmlns:a="http://schemas.openxmlformats.org/drawingml/2006/main">
            <a:off x="9601200" y="4648200"/>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7212B"/>
                </a:solidFill>
                <a:latin typeface="Aptos"/>
                <a:ea typeface="Aptos"/>
                <a:cs typeface="Aptos"/>
              </a:defRPr>
            </a:pPr>
            <a:r>
              <a:rPr sz="1500" b="1">
                <a:solidFill>
                  <a:srgbClr val="17212B"/>
                </a:solidFill>
                <a:latin typeface="Aptos"/>
                <a:ea typeface="Aptos"/>
                <a:cs typeface="Aptos"/>
              </a:rPr>
              <a:t>What Matters</a:t>
            </a:r>
          </a:p>
        </p:txBody>
      </p:sp>
      <p:sp>
        <p:nvSpPr>
          <p:cNvPr id="32" name="">
            <a:extLst xmlns:a="http://schemas.openxmlformats.org/drawingml/2006/main">
              <a:ext uri="{FF2B5EF4-FFF2-40B4-BE49-F238E27FC236}">
                <a16:creationId xmlns:a16="http://schemas.microsoft.com/office/drawing/2014/main" id="{52A20C5C-18BA-449C-AD09-18DE00E9830F}"/>
              </a:ext>
            </a:extLst>
          </p:cNvPr>
          <p:cNvSpPr>
            <a:spLocks xmlns:a="http://schemas.openxmlformats.org/drawingml/2006/main" noGrp="1"/>
          </p:cNvSpPr>
          <p:nvPr/>
        </p:nvSpPr>
        <p:spPr>
          <a:xfrm xmlns:a="http://schemas.openxmlformats.org/drawingml/2006/main">
            <a:off x="9601200" y="4953000"/>
            <a:ext cx="19431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5B6673"/>
                </a:solidFill>
                <a:latin typeface="Aptos"/>
                <a:ea typeface="Aptos"/>
                <a:cs typeface="Aptos"/>
              </a:defRPr>
            </a:pPr>
            <a:r>
              <a:rPr sz="1200" b="0">
                <a:solidFill>
                  <a:srgbClr val="5B6673"/>
                </a:solidFill>
                <a:latin typeface="Aptos"/>
                <a:ea typeface="Aptos"/>
                <a:cs typeface="Aptos"/>
              </a:rPr>
              <a:t>goals, support, independence</a:t>
            </a:r>
          </a:p>
        </p:txBody>
      </p:sp>
      <p:sp>
        <p:nvSpPr>
          <p:cNvPr id="33" name="">
            <a:extLst xmlns:a="http://schemas.openxmlformats.org/drawingml/2006/main">
              <a:ext uri="{FF2B5EF4-FFF2-40B4-BE49-F238E27FC236}">
                <a16:creationId xmlns:a16="http://schemas.microsoft.com/office/drawing/2014/main" id="{0884D5C9-819D-4277-B86E-E23F19F37D83}"/>
              </a:ext>
            </a:extLst>
          </p:cNvPr>
          <p:cNvSpPr>
            <a:spLocks xmlns:a="http://schemas.openxmlformats.org/drawingml/2006/main" noGrp="1"/>
          </p:cNvSpPr>
          <p:nvPr/>
        </p:nvSpPr>
        <p:spPr>
          <a:xfrm xmlns:a="http://schemas.openxmlformats.org/drawingml/2006/main">
            <a:off x="1143000" y="5962650"/>
            <a:ext cx="9144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725" b="1">
                <a:solidFill>
                  <a:srgbClr val="B85C38"/>
                </a:solidFill>
                <a:latin typeface="Aptos"/>
                <a:ea typeface="Aptos"/>
                <a:cs typeface="Aptos"/>
              </a:defRPr>
            </a:pPr>
            <a:r>
              <a:rPr sz="1725" b="1">
                <a:solidFill>
                  <a:srgbClr val="B85C38"/>
                </a:solidFill>
                <a:latin typeface="Aptos"/>
                <a:ea typeface="Aptos"/>
                <a:cs typeface="Aptos"/>
              </a:rPr>
              <a:t>Use the axes to make realistic 4Ms users; skip the emergency-diagnosis benchmark.</a:t>
            </a:r>
          </a:p>
        </p:txBody>
      </p:sp>
    </p:spTree>
    <p:extLst>
      <p:ext uri="{BB962C8B-B14F-4D97-AF65-F5344CB8AC3E}">
        <p14:creationId xmlns:p14="http://schemas.microsoft.com/office/powerpoint/2010/main" val="912574119"/>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770D44-8143-4DE3-B377-C4F8915A898B}"/>
              </a:ext>
            </a:extLst>
          </p:cNvPr>
          <p:cNvSpPr>
            <a:spLocks xmlns:a="http://schemas.openxmlformats.org/drawingml/2006/main" noGrp="1"/>
          </p:cNvSpPr>
          <p:nvPr/>
        </p:nvSpPr>
        <p:spPr>
          <a:xfrm xmlns:a="http://schemas.openxmlformats.org/drawingml/2006/main">
            <a:off x="609600" y="41910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B85C38"/>
                </a:solidFill>
                <a:latin typeface="Aptos"/>
                <a:ea typeface="Aptos"/>
                <a:cs typeface="Aptos"/>
              </a:defRPr>
            </a:pPr>
            <a:r>
              <a:rPr sz="1050" b="1">
                <a:solidFill>
                  <a:srgbClr val="B85C38"/>
                </a:solidFill>
                <a:latin typeface="Aptos"/>
                <a:ea typeface="Aptos"/>
                <a:cs typeface="Aptos"/>
              </a:rPr>
              <a:t>PAPER 3</a:t>
            </a:r>
          </a:p>
        </p:txBody>
      </p:sp>
      <p:sp>
        <p:nvSpPr>
          <p:cNvPr id="2" name="">
            <a:extLst xmlns:a="http://schemas.openxmlformats.org/drawingml/2006/main">
              <a:ext uri="{FF2B5EF4-FFF2-40B4-BE49-F238E27FC236}">
                <a16:creationId xmlns:a16="http://schemas.microsoft.com/office/drawing/2014/main" id="{23E053B7-6436-47BC-83BF-81628F8CD4DD}"/>
              </a:ext>
            </a:extLst>
          </p:cNvPr>
          <p:cNvSpPr>
            <a:spLocks xmlns:a="http://schemas.openxmlformats.org/drawingml/2006/main" noGrp="1"/>
          </p:cNvSpPr>
          <p:nvPr/>
        </p:nvSpPr>
        <p:spPr>
          <a:xfrm xmlns:a="http://schemas.openxmlformats.org/drawingml/2006/main">
            <a:off x="609600" y="723900"/>
            <a:ext cx="8953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7212B"/>
                </a:solidFill>
                <a:latin typeface="Aptos Display"/>
                <a:ea typeface="Aptos Display"/>
                <a:cs typeface="Aptos Display"/>
              </a:defRPr>
            </a:pPr>
            <a:r>
              <a:rPr sz="2700" b="1">
                <a:solidFill>
                  <a:srgbClr val="17212B"/>
                </a:solidFill>
                <a:latin typeface="Aptos Display"/>
                <a:ea typeface="Aptos Display"/>
                <a:cs typeface="Aptos Display"/>
              </a:rPr>
              <a:t>Use it for study discipline, not for the core method.</a:t>
            </a:r>
          </a:p>
        </p:txBody>
      </p:sp>
      <p:sp>
        <p:nvSpPr>
          <p:cNvPr id="3" name="">
            <a:extLst xmlns:a="http://schemas.openxmlformats.org/drawingml/2006/main">
              <a:ext uri="{FF2B5EF4-FFF2-40B4-BE49-F238E27FC236}">
                <a16:creationId xmlns:a16="http://schemas.microsoft.com/office/drawing/2014/main" id="{1478722B-3154-4D45-9C93-EAAEEA1689E1}"/>
              </a:ext>
            </a:extLst>
          </p:cNvPr>
          <p:cNvSpPr>
            <a:spLocks xmlns:a="http://schemas.openxmlformats.org/drawingml/2006/main" noGrp="1"/>
          </p:cNvSpPr>
          <p:nvPr/>
        </p:nvSpPr>
        <p:spPr>
          <a:xfrm xmlns:a="http://schemas.openxmlformats.org/drawingml/2006/main">
            <a:off x="1123950" y="144780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B6673"/>
                </a:solidFill>
                <a:latin typeface="Aptos"/>
                <a:ea typeface="Aptos"/>
                <a:cs typeface="Aptos"/>
              </a:defRPr>
            </a:pPr>
            <a:r>
              <a:rPr sz="1125" b="1">
                <a:solidFill>
                  <a:srgbClr val="5B6673"/>
                </a:solidFill>
                <a:latin typeface="Aptos"/>
                <a:ea typeface="Aptos"/>
                <a:cs typeface="Aptos"/>
              </a:rPr>
              <a:t>What they did</a:t>
            </a:r>
          </a:p>
        </p:txBody>
      </p:sp>
      <p:sp>
        <p:nvSpPr>
          <p:cNvPr id="4" name="">
            <a:extLst xmlns:a="http://schemas.openxmlformats.org/drawingml/2006/main">
              <a:ext uri="{FF2B5EF4-FFF2-40B4-BE49-F238E27FC236}">
                <a16:creationId xmlns:a16="http://schemas.microsoft.com/office/drawing/2014/main" id="{4FAAF8B5-9BAF-48F1-8E5D-BF0B3208DE9E}"/>
              </a:ext>
            </a:extLst>
          </p:cNvPr>
          <p:cNvSpPr>
            <a:spLocks xmlns:a="http://schemas.openxmlformats.org/drawingml/2006/main" noGrp="1"/>
          </p:cNvSpPr>
          <p:nvPr/>
        </p:nvSpPr>
        <p:spPr>
          <a:xfrm xmlns:a="http://schemas.openxmlformats.org/drawingml/2006/main">
            <a:off x="3886200" y="144780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B6673"/>
                </a:solidFill>
                <a:latin typeface="Aptos"/>
                <a:ea typeface="Aptos"/>
                <a:cs typeface="Aptos"/>
              </a:defRPr>
            </a:pPr>
            <a:r>
              <a:rPr sz="1125" b="1">
                <a:solidFill>
                  <a:srgbClr val="5B6673"/>
                </a:solidFill>
                <a:latin typeface="Aptos"/>
                <a:ea typeface="Aptos"/>
                <a:cs typeface="Aptos"/>
              </a:rPr>
              <a:t>What we borrow</a:t>
            </a:r>
          </a:p>
        </p:txBody>
      </p:sp>
      <p:sp>
        <p:nvSpPr>
          <p:cNvPr id="5" name="">
            <a:extLst xmlns:a="http://schemas.openxmlformats.org/drawingml/2006/main">
              <a:ext uri="{FF2B5EF4-FFF2-40B4-BE49-F238E27FC236}">
                <a16:creationId xmlns:a16="http://schemas.microsoft.com/office/drawing/2014/main" id="{A812D685-A651-4AC4-A315-5CE7397E0D8C}"/>
              </a:ext>
            </a:extLst>
          </p:cNvPr>
          <p:cNvSpPr>
            <a:spLocks xmlns:a="http://schemas.openxmlformats.org/drawingml/2006/main" noGrp="1"/>
          </p:cNvSpPr>
          <p:nvPr/>
        </p:nvSpPr>
        <p:spPr>
          <a:xfrm xmlns:a="http://schemas.openxmlformats.org/drawingml/2006/main">
            <a:off x="7467600" y="144780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5B6673"/>
                </a:solidFill>
                <a:latin typeface="Aptos"/>
                <a:ea typeface="Aptos"/>
                <a:cs typeface="Aptos"/>
              </a:defRPr>
            </a:pPr>
            <a:r>
              <a:rPr sz="1125" b="1">
                <a:solidFill>
                  <a:srgbClr val="5B6673"/>
                </a:solidFill>
                <a:latin typeface="Aptos"/>
                <a:ea typeface="Aptos"/>
                <a:cs typeface="Aptos"/>
              </a:rPr>
              <a:t>What we avoid</a:t>
            </a:r>
          </a:p>
        </p:txBody>
      </p:sp>
      <p:sp>
        <p:nvSpPr>
          <p:cNvPr id="6" name="">
            <a:extLst xmlns:a="http://schemas.openxmlformats.org/drawingml/2006/main">
              <a:ext uri="{FF2B5EF4-FFF2-40B4-BE49-F238E27FC236}">
                <a16:creationId xmlns:a16="http://schemas.microsoft.com/office/drawing/2014/main" id="{49AB4478-9FF7-474E-BA6B-AC7DB86BAFD2}"/>
              </a:ext>
            </a:extLst>
          </p:cNvPr>
          <p:cNvSpPr>
            <a:spLocks xmlns:a="http://schemas.openxmlformats.org/drawingml/2006/main" noGrp="1"/>
          </p:cNvSpPr>
          <p:nvPr/>
        </p:nvSpPr>
        <p:spPr>
          <a:xfrm xmlns:a="http://schemas.openxmlformats.org/drawingml/2006/main">
            <a:off x="876300" y="1790700"/>
            <a:ext cx="100965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2"/>
            </a:solidFill>
            <a:prstDash val="solid"/>
          </a:ln>
        </p:spPr>
      </p:sp>
      <p:sp>
        <p:nvSpPr>
          <p:cNvPr id="7" name="">
            <a:extLst xmlns:a="http://schemas.openxmlformats.org/drawingml/2006/main">
              <a:ext uri="{FF2B5EF4-FFF2-40B4-BE49-F238E27FC236}">
                <a16:creationId xmlns:a16="http://schemas.microsoft.com/office/drawing/2014/main" id="{4EF9E0CD-9758-4E6D-B295-E2C6D64ED729}"/>
              </a:ext>
            </a:extLst>
          </p:cNvPr>
          <p:cNvSpPr>
            <a:spLocks xmlns:a="http://schemas.openxmlformats.org/drawingml/2006/main" noGrp="1"/>
          </p:cNvSpPr>
          <p:nvPr/>
        </p:nvSpPr>
        <p:spPr>
          <a:xfrm xmlns:a="http://schemas.openxmlformats.org/drawingml/2006/main">
            <a:off x="876300" y="1790700"/>
            <a:ext cx="76200" cy="571500"/>
          </a:xfrm>
          <a:prstGeom xmlns:a="http://schemas.openxmlformats.org/drawingml/2006/main" prst="rect">
            <a:avLst/>
          </a:prstGeom>
          <a:solidFill xmlns:a="http://schemas.openxmlformats.org/drawingml/2006/main">
            <a:srgbClr val="B85C38"/>
          </a:solidFill>
          <a:ln xmlns:a="http://schemas.openxmlformats.org/drawingml/2006/main" w="0">
            <a:solidFill>
              <a:srgbClr val="B85C38"/>
            </a:solidFill>
            <a:prstDash val="solid"/>
          </a:ln>
        </p:spPr>
      </p:sp>
      <p:sp>
        <p:nvSpPr>
          <p:cNvPr id="8" name="">
            <a:extLst xmlns:a="http://schemas.openxmlformats.org/drawingml/2006/main">
              <a:ext uri="{FF2B5EF4-FFF2-40B4-BE49-F238E27FC236}">
                <a16:creationId xmlns:a16="http://schemas.microsoft.com/office/drawing/2014/main" id="{47D95D1A-CB92-4509-B01D-A369A43EFBA5}"/>
              </a:ext>
            </a:extLst>
          </p:cNvPr>
          <p:cNvSpPr>
            <a:spLocks xmlns:a="http://schemas.openxmlformats.org/drawingml/2006/main" noGrp="1"/>
          </p:cNvSpPr>
          <p:nvPr/>
        </p:nvSpPr>
        <p:spPr>
          <a:xfrm xmlns:a="http://schemas.openxmlformats.org/drawingml/2006/main">
            <a:off x="1123950" y="1952625"/>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85C38"/>
                </a:solidFill>
                <a:latin typeface="Aptos"/>
                <a:ea typeface="Aptos"/>
                <a:cs typeface="Aptos"/>
              </a:defRPr>
            </a:pPr>
            <a:r>
              <a:rPr sz="1350" b="1">
                <a:solidFill>
                  <a:srgbClr val="B85C38"/>
                </a:solidFill>
                <a:latin typeface="Aptos"/>
                <a:ea typeface="Aptos"/>
                <a:cs typeface="Aptos"/>
              </a:rPr>
              <a:t>Small usability test</a:t>
            </a:r>
          </a:p>
        </p:txBody>
      </p:sp>
      <p:sp>
        <p:nvSpPr>
          <p:cNvPr id="9" name="">
            <a:extLst xmlns:a="http://schemas.openxmlformats.org/drawingml/2006/main">
              <a:ext uri="{FF2B5EF4-FFF2-40B4-BE49-F238E27FC236}">
                <a16:creationId xmlns:a16="http://schemas.microsoft.com/office/drawing/2014/main" id="{EC63D836-C973-4852-875D-A52297B82FDB}"/>
              </a:ext>
            </a:extLst>
          </p:cNvPr>
          <p:cNvSpPr>
            <a:spLocks xmlns:a="http://schemas.openxmlformats.org/drawingml/2006/main" noGrp="1"/>
          </p:cNvSpPr>
          <p:nvPr/>
        </p:nvSpPr>
        <p:spPr>
          <a:xfrm xmlns:a="http://schemas.openxmlformats.org/drawingml/2006/main">
            <a:off x="3886200" y="1952625"/>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ptos"/>
                <a:ea typeface="Aptos"/>
                <a:cs typeface="Aptos"/>
              </a:defRPr>
            </a:pPr>
            <a:r>
              <a:rPr sz="1350" b="0">
                <a:solidFill>
                  <a:srgbClr val="17212B"/>
                </a:solidFill>
                <a:latin typeface="Aptos"/>
                <a:ea typeface="Aptos"/>
                <a:cs typeface="Aptos"/>
              </a:rPr>
              <a:t>SUS + task observations</a:t>
            </a:r>
          </a:p>
        </p:txBody>
      </p:sp>
      <p:sp>
        <p:nvSpPr>
          <p:cNvPr id="10" name="">
            <a:extLst xmlns:a="http://schemas.openxmlformats.org/drawingml/2006/main">
              <a:ext uri="{FF2B5EF4-FFF2-40B4-BE49-F238E27FC236}">
                <a16:creationId xmlns:a16="http://schemas.microsoft.com/office/drawing/2014/main" id="{629A055E-22D6-4608-B007-5549D4C098D1}"/>
              </a:ext>
            </a:extLst>
          </p:cNvPr>
          <p:cNvSpPr>
            <a:spLocks xmlns:a="http://schemas.openxmlformats.org/drawingml/2006/main" noGrp="1"/>
          </p:cNvSpPr>
          <p:nvPr/>
        </p:nvSpPr>
        <p:spPr>
          <a:xfrm xmlns:a="http://schemas.openxmlformats.org/drawingml/2006/main">
            <a:off x="7467600" y="1952625"/>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Do not claim effectiveness</a:t>
            </a:r>
          </a:p>
        </p:txBody>
      </p:sp>
      <p:sp>
        <p:nvSpPr>
          <p:cNvPr id="11" name="">
            <a:extLst xmlns:a="http://schemas.openxmlformats.org/drawingml/2006/main">
              <a:ext uri="{FF2B5EF4-FFF2-40B4-BE49-F238E27FC236}">
                <a16:creationId xmlns:a16="http://schemas.microsoft.com/office/drawing/2014/main" id="{0EE937B4-B7BA-431F-ABD9-59248B67ACCE}"/>
              </a:ext>
            </a:extLst>
          </p:cNvPr>
          <p:cNvSpPr>
            <a:spLocks xmlns:a="http://schemas.openxmlformats.org/drawingml/2006/main" noGrp="1"/>
          </p:cNvSpPr>
          <p:nvPr/>
        </p:nvSpPr>
        <p:spPr>
          <a:xfrm xmlns:a="http://schemas.openxmlformats.org/drawingml/2006/main">
            <a:off x="876300" y="2590800"/>
            <a:ext cx="100965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2"/>
            </a:solidFill>
            <a:prstDash val="solid"/>
          </a:ln>
        </p:spPr>
      </p:sp>
      <p:sp>
        <p:nvSpPr>
          <p:cNvPr id="12" name="">
            <a:extLst xmlns:a="http://schemas.openxmlformats.org/drawingml/2006/main">
              <a:ext uri="{FF2B5EF4-FFF2-40B4-BE49-F238E27FC236}">
                <a16:creationId xmlns:a16="http://schemas.microsoft.com/office/drawing/2014/main" id="{2B359B76-98E4-4784-9BCC-3FF8D8363BA1}"/>
              </a:ext>
            </a:extLst>
          </p:cNvPr>
          <p:cNvSpPr>
            <a:spLocks xmlns:a="http://schemas.openxmlformats.org/drawingml/2006/main" noGrp="1"/>
          </p:cNvSpPr>
          <p:nvPr/>
        </p:nvSpPr>
        <p:spPr>
          <a:xfrm xmlns:a="http://schemas.openxmlformats.org/drawingml/2006/main">
            <a:off x="876300" y="2590800"/>
            <a:ext cx="76200" cy="571500"/>
          </a:xfrm>
          <a:prstGeom xmlns:a="http://schemas.openxmlformats.org/drawingml/2006/main" prst="rect">
            <a:avLst/>
          </a:prstGeom>
          <a:solidFill xmlns:a="http://schemas.openxmlformats.org/drawingml/2006/main">
            <a:srgbClr val="D19A2A"/>
          </a:solidFill>
          <a:ln xmlns:a="http://schemas.openxmlformats.org/drawingml/2006/main" w="0">
            <a:solidFill>
              <a:srgbClr val="D19A2A"/>
            </a:solidFill>
            <a:prstDash val="solid"/>
          </a:ln>
        </p:spPr>
      </p:sp>
      <p:sp>
        <p:nvSpPr>
          <p:cNvPr id="13" name="">
            <a:extLst xmlns:a="http://schemas.openxmlformats.org/drawingml/2006/main">
              <a:ext uri="{FF2B5EF4-FFF2-40B4-BE49-F238E27FC236}">
                <a16:creationId xmlns:a16="http://schemas.microsoft.com/office/drawing/2014/main" id="{ABD44FB3-586B-4037-92DB-515B17FCB341}"/>
              </a:ext>
            </a:extLst>
          </p:cNvPr>
          <p:cNvSpPr>
            <a:spLocks xmlns:a="http://schemas.openxmlformats.org/drawingml/2006/main" noGrp="1"/>
          </p:cNvSpPr>
          <p:nvPr/>
        </p:nvSpPr>
        <p:spPr>
          <a:xfrm xmlns:a="http://schemas.openxmlformats.org/drawingml/2006/main">
            <a:off x="1123950" y="2752725"/>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19A2A"/>
                </a:solidFill>
                <a:latin typeface="Aptos"/>
                <a:ea typeface="Aptos"/>
                <a:cs typeface="Aptos"/>
              </a:defRPr>
            </a:pPr>
            <a:r>
              <a:rPr sz="1350" b="1">
                <a:solidFill>
                  <a:srgbClr val="D19A2A"/>
                </a:solidFill>
                <a:latin typeface="Aptos"/>
                <a:ea typeface="Aptos"/>
                <a:cs typeface="Aptos"/>
              </a:rPr>
              <a:t>Expert model ratings</a:t>
            </a:r>
          </a:p>
        </p:txBody>
      </p:sp>
      <p:sp>
        <p:nvSpPr>
          <p:cNvPr id="14" name="">
            <a:extLst xmlns:a="http://schemas.openxmlformats.org/drawingml/2006/main">
              <a:ext uri="{FF2B5EF4-FFF2-40B4-BE49-F238E27FC236}">
                <a16:creationId xmlns:a16="http://schemas.microsoft.com/office/drawing/2014/main" id="{8F5AF196-41D4-435D-A1AA-D1B93297DCCD}"/>
              </a:ext>
            </a:extLst>
          </p:cNvPr>
          <p:cNvSpPr>
            <a:spLocks xmlns:a="http://schemas.openxmlformats.org/drawingml/2006/main" noGrp="1"/>
          </p:cNvSpPr>
          <p:nvPr/>
        </p:nvSpPr>
        <p:spPr>
          <a:xfrm xmlns:a="http://schemas.openxmlformats.org/drawingml/2006/main">
            <a:off x="3886200" y="2752725"/>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ptos"/>
                <a:ea typeface="Aptos"/>
                <a:cs typeface="Aptos"/>
              </a:defRPr>
            </a:pPr>
            <a:r>
              <a:rPr sz="1350" b="0">
                <a:solidFill>
                  <a:srgbClr val="17212B"/>
                </a:solidFill>
                <a:latin typeface="Aptos"/>
                <a:ea typeface="Aptos"/>
                <a:cs typeface="Aptos"/>
              </a:rPr>
              <a:t>Rubric-based review</a:t>
            </a:r>
          </a:p>
        </p:txBody>
      </p:sp>
      <p:sp>
        <p:nvSpPr>
          <p:cNvPr id="15" name="">
            <a:extLst xmlns:a="http://schemas.openxmlformats.org/drawingml/2006/main">
              <a:ext uri="{FF2B5EF4-FFF2-40B4-BE49-F238E27FC236}">
                <a16:creationId xmlns:a16="http://schemas.microsoft.com/office/drawing/2014/main" id="{ED22F02F-3815-4C83-958C-C6F4E4CAAC3F}"/>
              </a:ext>
            </a:extLst>
          </p:cNvPr>
          <p:cNvSpPr>
            <a:spLocks xmlns:a="http://schemas.openxmlformats.org/drawingml/2006/main" noGrp="1"/>
          </p:cNvSpPr>
          <p:nvPr/>
        </p:nvSpPr>
        <p:spPr>
          <a:xfrm xmlns:a="http://schemas.openxmlformats.org/drawingml/2006/main">
            <a:off x="7467600" y="2752725"/>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Do not overstate weak stats</a:t>
            </a:r>
          </a:p>
        </p:txBody>
      </p:sp>
      <p:sp>
        <p:nvSpPr>
          <p:cNvPr id="16" name="">
            <a:extLst xmlns:a="http://schemas.openxmlformats.org/drawingml/2006/main">
              <a:ext uri="{FF2B5EF4-FFF2-40B4-BE49-F238E27FC236}">
                <a16:creationId xmlns:a16="http://schemas.microsoft.com/office/drawing/2014/main" id="{89DC02E1-CA49-4ED6-8CB9-13175B4C9457}"/>
              </a:ext>
            </a:extLst>
          </p:cNvPr>
          <p:cNvSpPr>
            <a:spLocks xmlns:a="http://schemas.openxmlformats.org/drawingml/2006/main" noGrp="1"/>
          </p:cNvSpPr>
          <p:nvPr/>
        </p:nvSpPr>
        <p:spPr>
          <a:xfrm xmlns:a="http://schemas.openxmlformats.org/drawingml/2006/main">
            <a:off x="876300" y="3390900"/>
            <a:ext cx="100965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2"/>
            </a:solidFill>
            <a:prstDash val="solid"/>
          </a:ln>
        </p:spPr>
      </p:sp>
      <p:sp>
        <p:nvSpPr>
          <p:cNvPr id="17" name="">
            <a:extLst xmlns:a="http://schemas.openxmlformats.org/drawingml/2006/main">
              <a:ext uri="{FF2B5EF4-FFF2-40B4-BE49-F238E27FC236}">
                <a16:creationId xmlns:a16="http://schemas.microsoft.com/office/drawing/2014/main" id="{504AC577-AAF8-4144-8250-7235A4F4A3D6}"/>
              </a:ext>
            </a:extLst>
          </p:cNvPr>
          <p:cNvSpPr>
            <a:spLocks xmlns:a="http://schemas.openxmlformats.org/drawingml/2006/main" noGrp="1"/>
          </p:cNvSpPr>
          <p:nvPr/>
        </p:nvSpPr>
        <p:spPr>
          <a:xfrm xmlns:a="http://schemas.openxmlformats.org/drawingml/2006/main">
            <a:off x="876300" y="3390900"/>
            <a:ext cx="76200" cy="571500"/>
          </a:xfrm>
          <a:prstGeom xmlns:a="http://schemas.openxmlformats.org/drawingml/2006/main" prst="rect">
            <a:avLst/>
          </a:prstGeom>
          <a:solidFill xmlns:a="http://schemas.openxmlformats.org/drawingml/2006/main">
            <a:srgbClr val="285C7D"/>
          </a:solidFill>
          <a:ln xmlns:a="http://schemas.openxmlformats.org/drawingml/2006/main" w="0">
            <a:solidFill>
              <a:srgbClr val="285C7D"/>
            </a:solidFill>
            <a:prstDash val="solid"/>
          </a:ln>
        </p:spPr>
      </p:sp>
      <p:sp>
        <p:nvSpPr>
          <p:cNvPr id="18" name="">
            <a:extLst xmlns:a="http://schemas.openxmlformats.org/drawingml/2006/main">
              <a:ext uri="{FF2B5EF4-FFF2-40B4-BE49-F238E27FC236}">
                <a16:creationId xmlns:a16="http://schemas.microsoft.com/office/drawing/2014/main" id="{FEB90F55-6C95-4477-8C87-BB39B6AB004C}"/>
              </a:ext>
            </a:extLst>
          </p:cNvPr>
          <p:cNvSpPr>
            <a:spLocks xmlns:a="http://schemas.openxmlformats.org/drawingml/2006/main" noGrp="1"/>
          </p:cNvSpPr>
          <p:nvPr/>
        </p:nvSpPr>
        <p:spPr>
          <a:xfrm xmlns:a="http://schemas.openxmlformats.org/drawingml/2006/main">
            <a:off x="1123950" y="3552825"/>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85C7D"/>
                </a:solidFill>
                <a:latin typeface="Aptos"/>
                <a:ea typeface="Aptos"/>
                <a:cs typeface="Aptos"/>
              </a:defRPr>
            </a:pPr>
            <a:r>
              <a:rPr sz="1350" b="1">
                <a:solidFill>
                  <a:srgbClr val="285C7D"/>
                </a:solidFill>
                <a:latin typeface="Aptos"/>
                <a:ea typeface="Aptos"/>
                <a:cs typeface="Aptos"/>
              </a:rPr>
              <a:t>System architecture</a:t>
            </a:r>
          </a:p>
        </p:txBody>
      </p:sp>
      <p:sp>
        <p:nvSpPr>
          <p:cNvPr id="19" name="">
            <a:extLst xmlns:a="http://schemas.openxmlformats.org/drawingml/2006/main">
              <a:ext uri="{FF2B5EF4-FFF2-40B4-BE49-F238E27FC236}">
                <a16:creationId xmlns:a16="http://schemas.microsoft.com/office/drawing/2014/main" id="{CC645BCB-D57C-4FAA-AB73-915CB6FEFB4C}"/>
              </a:ext>
            </a:extLst>
          </p:cNvPr>
          <p:cNvSpPr>
            <a:spLocks xmlns:a="http://schemas.openxmlformats.org/drawingml/2006/main" noGrp="1"/>
          </p:cNvSpPr>
          <p:nvPr/>
        </p:nvSpPr>
        <p:spPr>
          <a:xfrm xmlns:a="http://schemas.openxmlformats.org/drawingml/2006/main">
            <a:off x="3886200" y="3552825"/>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ptos"/>
                <a:ea typeface="Aptos"/>
                <a:cs typeface="Aptos"/>
              </a:defRPr>
            </a:pPr>
            <a:r>
              <a:rPr sz="1350" b="0">
                <a:solidFill>
                  <a:srgbClr val="17212B"/>
                </a:solidFill>
                <a:latin typeface="Aptos"/>
                <a:ea typeface="Aptos"/>
                <a:cs typeface="Aptos"/>
              </a:rPr>
              <a:t>Clear app/data flow figure</a:t>
            </a:r>
          </a:p>
        </p:txBody>
      </p:sp>
      <p:sp>
        <p:nvSpPr>
          <p:cNvPr id="20" name="">
            <a:extLst xmlns:a="http://schemas.openxmlformats.org/drawingml/2006/main">
              <a:ext uri="{FF2B5EF4-FFF2-40B4-BE49-F238E27FC236}">
                <a16:creationId xmlns:a16="http://schemas.microsoft.com/office/drawing/2014/main" id="{3FE759A1-365B-4559-8437-853A013F7A65}"/>
              </a:ext>
            </a:extLst>
          </p:cNvPr>
          <p:cNvSpPr>
            <a:spLocks xmlns:a="http://schemas.openxmlformats.org/drawingml/2006/main" noGrp="1"/>
          </p:cNvSpPr>
          <p:nvPr/>
        </p:nvSpPr>
        <p:spPr>
          <a:xfrm xmlns:a="http://schemas.openxmlformats.org/drawingml/2006/main">
            <a:off x="7467600" y="3552825"/>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Do not center medical students</a:t>
            </a:r>
          </a:p>
        </p:txBody>
      </p:sp>
      <p:sp>
        <p:nvSpPr>
          <p:cNvPr id="21" name="">
            <a:extLst xmlns:a="http://schemas.openxmlformats.org/drawingml/2006/main">
              <a:ext uri="{FF2B5EF4-FFF2-40B4-BE49-F238E27FC236}">
                <a16:creationId xmlns:a16="http://schemas.microsoft.com/office/drawing/2014/main" id="{35AACB62-7D71-4634-915D-6B4E24B9F2CC}"/>
              </a:ext>
            </a:extLst>
          </p:cNvPr>
          <p:cNvSpPr>
            <a:spLocks xmlns:a="http://schemas.openxmlformats.org/drawingml/2006/main" noGrp="1"/>
          </p:cNvSpPr>
          <p:nvPr/>
        </p:nvSpPr>
        <p:spPr>
          <a:xfrm xmlns:a="http://schemas.openxmlformats.org/drawingml/2006/main">
            <a:off x="876300" y="4191000"/>
            <a:ext cx="100965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2"/>
            </a:solidFill>
            <a:prstDash val="solid"/>
          </a:ln>
        </p:spPr>
      </p:sp>
      <p:sp>
        <p:nvSpPr>
          <p:cNvPr id="22" name="">
            <a:extLst xmlns:a="http://schemas.openxmlformats.org/drawingml/2006/main">
              <a:ext uri="{FF2B5EF4-FFF2-40B4-BE49-F238E27FC236}">
                <a16:creationId xmlns:a16="http://schemas.microsoft.com/office/drawing/2014/main" id="{D8C8B724-A790-41C0-9D8F-2ADB1D0BB2FA}"/>
              </a:ext>
            </a:extLst>
          </p:cNvPr>
          <p:cNvSpPr>
            <a:spLocks xmlns:a="http://schemas.openxmlformats.org/drawingml/2006/main" noGrp="1"/>
          </p:cNvSpPr>
          <p:nvPr/>
        </p:nvSpPr>
        <p:spPr>
          <a:xfrm xmlns:a="http://schemas.openxmlformats.org/drawingml/2006/main">
            <a:off x="876300" y="4191000"/>
            <a:ext cx="76200" cy="57150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23" name="">
            <a:extLst xmlns:a="http://schemas.openxmlformats.org/drawingml/2006/main">
              <a:ext uri="{FF2B5EF4-FFF2-40B4-BE49-F238E27FC236}">
                <a16:creationId xmlns:a16="http://schemas.microsoft.com/office/drawing/2014/main" id="{5FED79E5-4AA2-492F-A961-B24003437A44}"/>
              </a:ext>
            </a:extLst>
          </p:cNvPr>
          <p:cNvSpPr>
            <a:spLocks xmlns:a="http://schemas.openxmlformats.org/drawingml/2006/main" noGrp="1"/>
          </p:cNvSpPr>
          <p:nvPr/>
        </p:nvSpPr>
        <p:spPr>
          <a:xfrm xmlns:a="http://schemas.openxmlformats.org/drawingml/2006/main">
            <a:off x="1123950" y="4352925"/>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7D78"/>
                </a:solidFill>
                <a:latin typeface="Aptos"/>
                <a:ea typeface="Aptos"/>
                <a:cs typeface="Aptos"/>
              </a:defRPr>
            </a:pPr>
            <a:r>
              <a:rPr sz="1350" b="1">
                <a:solidFill>
                  <a:srgbClr val="2F7D78"/>
                </a:solidFill>
                <a:latin typeface="Aptos"/>
                <a:ea typeface="Aptos"/>
                <a:cs typeface="Aptos"/>
              </a:rPr>
              <a:t>Missing feedback loop</a:t>
            </a:r>
          </a:p>
        </p:txBody>
      </p:sp>
      <p:sp>
        <p:nvSpPr>
          <p:cNvPr id="24" name="">
            <a:extLst xmlns:a="http://schemas.openxmlformats.org/drawingml/2006/main">
              <a:ext uri="{FF2B5EF4-FFF2-40B4-BE49-F238E27FC236}">
                <a16:creationId xmlns:a16="http://schemas.microsoft.com/office/drawing/2014/main" id="{CCC86C6D-2759-49FD-8076-30FDA66008D8}"/>
              </a:ext>
            </a:extLst>
          </p:cNvPr>
          <p:cNvSpPr>
            <a:spLocks xmlns:a="http://schemas.openxmlformats.org/drawingml/2006/main" noGrp="1"/>
          </p:cNvSpPr>
          <p:nvPr/>
        </p:nvSpPr>
        <p:spPr>
          <a:xfrm xmlns:a="http://schemas.openxmlformats.org/drawingml/2006/main">
            <a:off x="3886200" y="4352925"/>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12B"/>
                </a:solidFill>
                <a:latin typeface="Aptos"/>
                <a:ea typeface="Aptos"/>
                <a:cs typeface="Aptos"/>
              </a:defRPr>
            </a:pPr>
            <a:r>
              <a:rPr sz="1350" b="0">
                <a:solidFill>
                  <a:srgbClr val="17212B"/>
                </a:solidFill>
                <a:latin typeface="Aptos"/>
                <a:ea typeface="Aptos"/>
                <a:cs typeface="Aptos"/>
              </a:rPr>
              <a:t>Add safety/comprehension loop</a:t>
            </a:r>
          </a:p>
        </p:txBody>
      </p:sp>
      <p:sp>
        <p:nvSpPr>
          <p:cNvPr id="25" name="">
            <a:extLst xmlns:a="http://schemas.openxmlformats.org/drawingml/2006/main">
              <a:ext uri="{FF2B5EF4-FFF2-40B4-BE49-F238E27FC236}">
                <a16:creationId xmlns:a16="http://schemas.microsoft.com/office/drawing/2014/main" id="{E5B84E82-785D-45D5-B03F-7127FF5BEC50}"/>
              </a:ext>
            </a:extLst>
          </p:cNvPr>
          <p:cNvSpPr>
            <a:spLocks xmlns:a="http://schemas.openxmlformats.org/drawingml/2006/main" noGrp="1"/>
          </p:cNvSpPr>
          <p:nvPr/>
        </p:nvSpPr>
        <p:spPr>
          <a:xfrm xmlns:a="http://schemas.openxmlformats.org/drawingml/2006/main">
            <a:off x="7467600" y="4352925"/>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Do not make education the story</a:t>
            </a:r>
          </a:p>
        </p:txBody>
      </p:sp>
      <p:sp>
        <p:nvSpPr>
          <p:cNvPr id="26" name="">
            <a:extLst xmlns:a="http://schemas.openxmlformats.org/drawingml/2006/main">
              <a:ext uri="{FF2B5EF4-FFF2-40B4-BE49-F238E27FC236}">
                <a16:creationId xmlns:a16="http://schemas.microsoft.com/office/drawing/2014/main" id="{A25BFF2E-2209-401C-B812-65399A0A6C28}"/>
              </a:ext>
            </a:extLst>
          </p:cNvPr>
          <p:cNvSpPr>
            <a:spLocks xmlns:a="http://schemas.openxmlformats.org/drawingml/2006/main" noGrp="1"/>
          </p:cNvSpPr>
          <p:nvPr/>
        </p:nvSpPr>
        <p:spPr>
          <a:xfrm xmlns:a="http://schemas.openxmlformats.org/drawingml/2006/main">
            <a:off x="1238250" y="5391150"/>
            <a:ext cx="9334500" cy="685800"/>
          </a:xfrm>
          <a:prstGeom xmlns:a="http://schemas.openxmlformats.org/drawingml/2006/main" prst="rect">
            <a:avLst/>
          </a:prstGeom>
          <a:solidFill xmlns:a="http://schemas.openxmlformats.org/drawingml/2006/main">
            <a:srgbClr val="FFF8EB"/>
          </a:solidFill>
          <a:ln xmlns:a="http://schemas.openxmlformats.org/drawingml/2006/main" w="19050">
            <a:solidFill>
              <a:srgbClr val="D19A2A"/>
            </a:solidFill>
            <a:prstDash val="solid"/>
          </a:ln>
        </p:spPr>
      </p:sp>
      <p:sp>
        <p:nvSpPr>
          <p:cNvPr id="27" name="">
            <a:extLst xmlns:a="http://schemas.openxmlformats.org/drawingml/2006/main">
              <a:ext uri="{FF2B5EF4-FFF2-40B4-BE49-F238E27FC236}">
                <a16:creationId xmlns:a16="http://schemas.microsoft.com/office/drawing/2014/main" id="{8DDCC798-C16E-4A8A-850D-EBE58F185630}"/>
              </a:ext>
            </a:extLst>
          </p:cNvPr>
          <p:cNvSpPr>
            <a:spLocks xmlns:a="http://schemas.openxmlformats.org/drawingml/2006/main" noGrp="1"/>
          </p:cNvSpPr>
          <p:nvPr/>
        </p:nvSpPr>
        <p:spPr>
          <a:xfrm xmlns:a="http://schemas.openxmlformats.org/drawingml/2006/main">
            <a:off x="1238250" y="558165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17212B"/>
                </a:solidFill>
                <a:latin typeface="Aptos"/>
                <a:ea typeface="Aptos"/>
                <a:cs typeface="Aptos"/>
              </a:defRPr>
            </a:pPr>
            <a:r>
              <a:rPr sz="1950" b="1">
                <a:solidFill>
                  <a:srgbClr val="17212B"/>
                </a:solidFill>
                <a:latin typeface="Aptos"/>
                <a:ea typeface="Aptos"/>
                <a:cs typeface="Aptos"/>
              </a:rPr>
              <a:t>Best use: wording model for a careful formative paper.</a:t>
            </a:r>
          </a:p>
        </p:txBody>
      </p:sp>
    </p:spTree>
    <p:extLst>
      <p:ext uri="{BB962C8B-B14F-4D97-AF65-F5344CB8AC3E}">
        <p14:creationId xmlns:p14="http://schemas.microsoft.com/office/powerpoint/2010/main" val="1729058258"/>
      </p:ext>
    </p:extLst>
  </p:cSld>
</p:sld>
</file>

<file path=ppt/slides/slide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C9F054-73F5-4AB8-A7C1-19A13B5ED901}"/>
              </a:ext>
            </a:extLst>
          </p:cNvPr>
          <p:cNvSpPr>
            <a:spLocks xmlns:a="http://schemas.openxmlformats.org/drawingml/2006/main" noGrp="1"/>
          </p:cNvSpPr>
          <p:nvPr/>
        </p:nvSpPr>
        <p:spPr>
          <a:xfrm xmlns:a="http://schemas.openxmlformats.org/drawingml/2006/main">
            <a:off x="609600" y="419100"/>
            <a:ext cx="1619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285C7D"/>
                </a:solidFill>
                <a:latin typeface="Aptos"/>
                <a:ea typeface="Aptos"/>
                <a:cs typeface="Aptos"/>
              </a:defRPr>
            </a:pPr>
            <a:r>
              <a:rPr sz="1050" b="1">
                <a:solidFill>
                  <a:srgbClr val="285C7D"/>
                </a:solidFill>
                <a:latin typeface="Aptos"/>
                <a:ea typeface="Aptos"/>
                <a:cs typeface="Aptos"/>
              </a:rPr>
              <a:t>ADAPTATION FILTER</a:t>
            </a:r>
          </a:p>
        </p:txBody>
      </p:sp>
      <p:sp>
        <p:nvSpPr>
          <p:cNvPr id="2" name="">
            <a:extLst xmlns:a="http://schemas.openxmlformats.org/drawingml/2006/main">
              <a:ext uri="{FF2B5EF4-FFF2-40B4-BE49-F238E27FC236}">
                <a16:creationId xmlns:a16="http://schemas.microsoft.com/office/drawing/2014/main" id="{BB4D35B9-0A5F-4238-AFC2-0BAC067CB44C}"/>
              </a:ext>
            </a:extLst>
          </p:cNvPr>
          <p:cNvSpPr>
            <a:spLocks xmlns:a="http://schemas.openxmlformats.org/drawingml/2006/main" noGrp="1"/>
          </p:cNvSpPr>
          <p:nvPr/>
        </p:nvSpPr>
        <p:spPr>
          <a:xfrm xmlns:a="http://schemas.openxmlformats.org/drawingml/2006/main">
            <a:off x="609600" y="723900"/>
            <a:ext cx="8763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7212B"/>
                </a:solidFill>
                <a:latin typeface="Aptos Display"/>
                <a:ea typeface="Aptos Display"/>
                <a:cs typeface="Aptos Display"/>
              </a:defRPr>
            </a:pPr>
            <a:r>
              <a:rPr sz="2700" b="1">
                <a:solidFill>
                  <a:srgbClr val="17212B"/>
                </a:solidFill>
                <a:latin typeface="Aptos Display"/>
                <a:ea typeface="Aptos Display"/>
                <a:cs typeface="Aptos Display"/>
              </a:rPr>
              <a:t>Borrow methods that match our actual product.</a:t>
            </a:r>
          </a:p>
        </p:txBody>
      </p:sp>
      <p:sp>
        <p:nvSpPr>
          <p:cNvPr id="3" name="">
            <a:extLst xmlns:a="http://schemas.openxmlformats.org/drawingml/2006/main">
              <a:ext uri="{FF2B5EF4-FFF2-40B4-BE49-F238E27FC236}">
                <a16:creationId xmlns:a16="http://schemas.microsoft.com/office/drawing/2014/main" id="{C69D15DE-3D32-4C6A-9578-0C06F480ABFC}"/>
              </a:ext>
            </a:extLst>
          </p:cNvPr>
          <p:cNvSpPr>
            <a:spLocks xmlns:a="http://schemas.openxmlformats.org/drawingml/2006/main" noGrp="1"/>
          </p:cNvSpPr>
          <p:nvPr/>
        </p:nvSpPr>
        <p:spPr>
          <a:xfrm xmlns:a="http://schemas.openxmlformats.org/drawingml/2006/main">
            <a:off x="952500" y="1619250"/>
            <a:ext cx="4762500" cy="3190875"/>
          </a:xfrm>
          <a:prstGeom xmlns:a="http://schemas.openxmlformats.org/drawingml/2006/main" prst="rect">
            <a:avLst/>
          </a:prstGeom>
          <a:solidFill xmlns:a="http://schemas.openxmlformats.org/drawingml/2006/main">
            <a:srgbClr val="FFFFFF"/>
          </a:solidFill>
          <a:ln xmlns:a="http://schemas.openxmlformats.org/drawingml/2006/main" w="28575">
            <a:solidFill>
              <a:srgbClr val="2F7D78"/>
            </a:solidFill>
            <a:prstDash val="solid"/>
          </a:ln>
        </p:spPr>
      </p:sp>
      <p:sp>
        <p:nvSpPr>
          <p:cNvPr id="4" name="">
            <a:extLst xmlns:a="http://schemas.openxmlformats.org/drawingml/2006/main">
              <a:ext uri="{FF2B5EF4-FFF2-40B4-BE49-F238E27FC236}">
                <a16:creationId xmlns:a16="http://schemas.microsoft.com/office/drawing/2014/main" id="{1EEA6F61-5AE6-4464-926A-F30CD0D65A4C}"/>
              </a:ext>
            </a:extLst>
          </p:cNvPr>
          <p:cNvSpPr>
            <a:spLocks xmlns:a="http://schemas.openxmlformats.org/drawingml/2006/main" noGrp="1"/>
          </p:cNvSpPr>
          <p:nvPr/>
        </p:nvSpPr>
        <p:spPr>
          <a:xfrm xmlns:a="http://schemas.openxmlformats.org/drawingml/2006/main">
            <a:off x="1219200" y="188595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2F7D78"/>
                </a:solidFill>
                <a:latin typeface="Aptos"/>
                <a:ea typeface="Aptos"/>
                <a:cs typeface="Aptos"/>
              </a:defRPr>
            </a:pPr>
            <a:r>
              <a:rPr sz="2100" b="1">
                <a:solidFill>
                  <a:srgbClr val="2F7D78"/>
                </a:solidFill>
                <a:latin typeface="Aptos"/>
                <a:ea typeface="Aptos"/>
                <a:cs typeface="Aptos"/>
              </a:rPr>
              <a:t>Adapt</a:t>
            </a:r>
          </a:p>
        </p:txBody>
      </p:sp>
      <p:sp>
        <p:nvSpPr>
          <p:cNvPr id="5" name="">
            <a:extLst xmlns:a="http://schemas.openxmlformats.org/drawingml/2006/main">
              <a:ext uri="{FF2B5EF4-FFF2-40B4-BE49-F238E27FC236}">
                <a16:creationId xmlns:a16="http://schemas.microsoft.com/office/drawing/2014/main" id="{2B54CBC7-7F08-4488-A601-E9190FEF50C4}"/>
              </a:ext>
            </a:extLst>
          </p:cNvPr>
          <p:cNvSpPr>
            <a:spLocks xmlns:a="http://schemas.openxmlformats.org/drawingml/2006/main" noGrp="1"/>
          </p:cNvSpPr>
          <p:nvPr/>
        </p:nvSpPr>
        <p:spPr>
          <a:xfrm xmlns:a="http://schemas.openxmlformats.org/drawingml/2006/main">
            <a:off x="1238250" y="2457450"/>
            <a:ext cx="114300" cy="11430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6" name="">
            <a:extLst xmlns:a="http://schemas.openxmlformats.org/drawingml/2006/main">
              <a:ext uri="{FF2B5EF4-FFF2-40B4-BE49-F238E27FC236}">
                <a16:creationId xmlns:a16="http://schemas.microsoft.com/office/drawing/2014/main" id="{C9AF722E-71A5-4ECF-B607-9895769709DD}"/>
              </a:ext>
            </a:extLst>
          </p:cNvPr>
          <p:cNvSpPr>
            <a:spLocks xmlns:a="http://schemas.openxmlformats.org/drawingml/2006/main" noGrp="1"/>
          </p:cNvSpPr>
          <p:nvPr/>
        </p:nvSpPr>
        <p:spPr>
          <a:xfrm xmlns:a="http://schemas.openxmlformats.org/drawingml/2006/main">
            <a:off x="1466850" y="2362200"/>
            <a:ext cx="3810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7212B"/>
                </a:solidFill>
                <a:latin typeface="Aptos"/>
                <a:ea typeface="Aptos"/>
                <a:cs typeface="Aptos"/>
              </a:defRPr>
            </a:pPr>
            <a:r>
              <a:rPr sz="1500" b="0">
                <a:solidFill>
                  <a:srgbClr val="17212B"/>
                </a:solidFill>
                <a:latin typeface="Aptos"/>
                <a:ea typeface="Aptos"/>
                <a:cs typeface="Aptos"/>
              </a:rPr>
              <a:t>simulation-based risk testing</a:t>
            </a:r>
          </a:p>
        </p:txBody>
      </p:sp>
      <p:sp>
        <p:nvSpPr>
          <p:cNvPr id="7" name="">
            <a:extLst xmlns:a="http://schemas.openxmlformats.org/drawingml/2006/main">
              <a:ext uri="{FF2B5EF4-FFF2-40B4-BE49-F238E27FC236}">
                <a16:creationId xmlns:a16="http://schemas.microsoft.com/office/drawing/2014/main" id="{07D9323E-2B17-41CB-8C6A-46C773B4E75D}"/>
              </a:ext>
            </a:extLst>
          </p:cNvPr>
          <p:cNvSpPr>
            <a:spLocks xmlns:a="http://schemas.openxmlformats.org/drawingml/2006/main" noGrp="1"/>
          </p:cNvSpPr>
          <p:nvPr/>
        </p:nvSpPr>
        <p:spPr>
          <a:xfrm xmlns:a="http://schemas.openxmlformats.org/drawingml/2006/main">
            <a:off x="1238250" y="3009900"/>
            <a:ext cx="114300" cy="11430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8" name="">
            <a:extLst xmlns:a="http://schemas.openxmlformats.org/drawingml/2006/main">
              <a:ext uri="{FF2B5EF4-FFF2-40B4-BE49-F238E27FC236}">
                <a16:creationId xmlns:a16="http://schemas.microsoft.com/office/drawing/2014/main" id="{220A9A36-02B0-4F8D-9987-B9408C0D1186}"/>
              </a:ext>
            </a:extLst>
          </p:cNvPr>
          <p:cNvSpPr>
            <a:spLocks xmlns:a="http://schemas.openxmlformats.org/drawingml/2006/main" noGrp="1"/>
          </p:cNvSpPr>
          <p:nvPr/>
        </p:nvSpPr>
        <p:spPr>
          <a:xfrm xmlns:a="http://schemas.openxmlformats.org/drawingml/2006/main">
            <a:off x="1466850" y="2914650"/>
            <a:ext cx="3810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7212B"/>
                </a:solidFill>
                <a:latin typeface="Aptos"/>
                <a:ea typeface="Aptos"/>
                <a:cs typeface="Aptos"/>
              </a:defRPr>
            </a:pPr>
            <a:r>
              <a:rPr sz="1500" b="0">
                <a:solidFill>
                  <a:srgbClr val="17212B"/>
                </a:solidFill>
                <a:latin typeface="Aptos"/>
                <a:ea typeface="Aptos"/>
                <a:cs typeface="Aptos"/>
              </a:rPr>
              <a:t>health literacy variation</a:t>
            </a:r>
          </a:p>
        </p:txBody>
      </p:sp>
      <p:sp>
        <p:nvSpPr>
          <p:cNvPr id="9" name="">
            <a:extLst xmlns:a="http://schemas.openxmlformats.org/drawingml/2006/main">
              <a:ext uri="{FF2B5EF4-FFF2-40B4-BE49-F238E27FC236}">
                <a16:creationId xmlns:a16="http://schemas.microsoft.com/office/drawing/2014/main" id="{30BE4817-8ED3-4FC8-BA38-074C585887EE}"/>
              </a:ext>
            </a:extLst>
          </p:cNvPr>
          <p:cNvSpPr>
            <a:spLocks xmlns:a="http://schemas.openxmlformats.org/drawingml/2006/main" noGrp="1"/>
          </p:cNvSpPr>
          <p:nvPr/>
        </p:nvSpPr>
        <p:spPr>
          <a:xfrm xmlns:a="http://schemas.openxmlformats.org/drawingml/2006/main">
            <a:off x="1238250" y="3562350"/>
            <a:ext cx="114300" cy="11430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10" name="">
            <a:extLst xmlns:a="http://schemas.openxmlformats.org/drawingml/2006/main">
              <a:ext uri="{FF2B5EF4-FFF2-40B4-BE49-F238E27FC236}">
                <a16:creationId xmlns:a16="http://schemas.microsoft.com/office/drawing/2014/main" id="{9ACA4F6D-F227-4085-9702-5406DB8E0FD3}"/>
              </a:ext>
            </a:extLst>
          </p:cNvPr>
          <p:cNvSpPr>
            <a:spLocks xmlns:a="http://schemas.openxmlformats.org/drawingml/2006/main" noGrp="1"/>
          </p:cNvSpPr>
          <p:nvPr/>
        </p:nvSpPr>
        <p:spPr>
          <a:xfrm xmlns:a="http://schemas.openxmlformats.org/drawingml/2006/main">
            <a:off x="1466850" y="3467100"/>
            <a:ext cx="3810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7212B"/>
                </a:solidFill>
                <a:latin typeface="Aptos"/>
                <a:ea typeface="Aptos"/>
                <a:cs typeface="Aptos"/>
              </a:defRPr>
            </a:pPr>
            <a:r>
              <a:rPr sz="1500" b="0">
                <a:solidFill>
                  <a:srgbClr val="17212B"/>
                </a:solidFill>
                <a:latin typeface="Aptos"/>
                <a:ea typeface="Aptos"/>
                <a:cs typeface="Aptos"/>
              </a:rPr>
              <a:t>recall + confusion profiles</a:t>
            </a:r>
          </a:p>
        </p:txBody>
      </p:sp>
      <p:sp>
        <p:nvSpPr>
          <p:cNvPr id="11" name="">
            <a:extLst xmlns:a="http://schemas.openxmlformats.org/drawingml/2006/main">
              <a:ext uri="{FF2B5EF4-FFF2-40B4-BE49-F238E27FC236}">
                <a16:creationId xmlns:a16="http://schemas.microsoft.com/office/drawing/2014/main" id="{CC744A70-5F4D-4184-99E2-5B053D8F1E7F}"/>
              </a:ext>
            </a:extLst>
          </p:cNvPr>
          <p:cNvSpPr>
            <a:spLocks xmlns:a="http://schemas.openxmlformats.org/drawingml/2006/main" noGrp="1"/>
          </p:cNvSpPr>
          <p:nvPr/>
        </p:nvSpPr>
        <p:spPr>
          <a:xfrm xmlns:a="http://schemas.openxmlformats.org/drawingml/2006/main">
            <a:off x="1238250" y="4114800"/>
            <a:ext cx="114300" cy="11430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12" name="">
            <a:extLst xmlns:a="http://schemas.openxmlformats.org/drawingml/2006/main">
              <a:ext uri="{FF2B5EF4-FFF2-40B4-BE49-F238E27FC236}">
                <a16:creationId xmlns:a16="http://schemas.microsoft.com/office/drawing/2014/main" id="{4515555D-1561-4E83-9E08-4E7030DB70BB}"/>
              </a:ext>
            </a:extLst>
          </p:cNvPr>
          <p:cNvSpPr>
            <a:spLocks xmlns:a="http://schemas.openxmlformats.org/drawingml/2006/main" noGrp="1"/>
          </p:cNvSpPr>
          <p:nvPr/>
        </p:nvSpPr>
        <p:spPr>
          <a:xfrm xmlns:a="http://schemas.openxmlformats.org/drawingml/2006/main">
            <a:off x="1466850" y="4019550"/>
            <a:ext cx="3810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7212B"/>
                </a:solidFill>
                <a:latin typeface="Aptos"/>
                <a:ea typeface="Aptos"/>
                <a:cs typeface="Aptos"/>
              </a:defRPr>
            </a:pPr>
            <a:r>
              <a:rPr sz="1500" b="0">
                <a:solidFill>
                  <a:srgbClr val="17212B"/>
                </a:solidFill>
                <a:latin typeface="Aptos"/>
                <a:ea typeface="Aptos"/>
                <a:cs typeface="Aptos"/>
              </a:rPr>
              <a:t>rubric scoring + human subset</a:t>
            </a:r>
          </a:p>
        </p:txBody>
      </p:sp>
      <p:sp>
        <p:nvSpPr>
          <p:cNvPr id="13" name="">
            <a:extLst xmlns:a="http://schemas.openxmlformats.org/drawingml/2006/main">
              <a:ext uri="{FF2B5EF4-FFF2-40B4-BE49-F238E27FC236}">
                <a16:creationId xmlns:a16="http://schemas.microsoft.com/office/drawing/2014/main" id="{7D5FEA5E-D5BB-4C0E-9A65-409DD4B0923B}"/>
              </a:ext>
            </a:extLst>
          </p:cNvPr>
          <p:cNvSpPr>
            <a:spLocks xmlns:a="http://schemas.openxmlformats.org/drawingml/2006/main" noGrp="1"/>
          </p:cNvSpPr>
          <p:nvPr/>
        </p:nvSpPr>
        <p:spPr>
          <a:xfrm xmlns:a="http://schemas.openxmlformats.org/drawingml/2006/main">
            <a:off x="1238250" y="4667250"/>
            <a:ext cx="114300" cy="11430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14" name="">
            <a:extLst xmlns:a="http://schemas.openxmlformats.org/drawingml/2006/main">
              <a:ext uri="{FF2B5EF4-FFF2-40B4-BE49-F238E27FC236}">
                <a16:creationId xmlns:a16="http://schemas.microsoft.com/office/drawing/2014/main" id="{D4C2C604-8573-4C3C-B4B0-313BDBE08E87}"/>
              </a:ext>
            </a:extLst>
          </p:cNvPr>
          <p:cNvSpPr>
            <a:spLocks xmlns:a="http://schemas.openxmlformats.org/drawingml/2006/main" noGrp="1"/>
          </p:cNvSpPr>
          <p:nvPr/>
        </p:nvSpPr>
        <p:spPr>
          <a:xfrm xmlns:a="http://schemas.openxmlformats.org/drawingml/2006/main">
            <a:off x="1466850" y="4572000"/>
            <a:ext cx="3810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7212B"/>
                </a:solidFill>
                <a:latin typeface="Aptos"/>
                <a:ea typeface="Aptos"/>
                <a:cs typeface="Aptos"/>
              </a:defRPr>
            </a:pPr>
            <a:r>
              <a:rPr sz="1500" b="0">
                <a:solidFill>
                  <a:srgbClr val="17212B"/>
                </a:solidFill>
                <a:latin typeface="Aptos"/>
                <a:ea typeface="Aptos"/>
                <a:cs typeface="Aptos"/>
              </a:rPr>
              <a:t>careful formative framing</a:t>
            </a:r>
          </a:p>
        </p:txBody>
      </p:sp>
      <p:sp>
        <p:nvSpPr>
          <p:cNvPr id="15" name="">
            <a:extLst xmlns:a="http://schemas.openxmlformats.org/drawingml/2006/main">
              <a:ext uri="{FF2B5EF4-FFF2-40B4-BE49-F238E27FC236}">
                <a16:creationId xmlns:a16="http://schemas.microsoft.com/office/drawing/2014/main" id="{146A32DC-0A2C-4D78-914A-1C71D1A05874}"/>
              </a:ext>
            </a:extLst>
          </p:cNvPr>
          <p:cNvSpPr>
            <a:spLocks xmlns:a="http://schemas.openxmlformats.org/drawingml/2006/main" noGrp="1"/>
          </p:cNvSpPr>
          <p:nvPr/>
        </p:nvSpPr>
        <p:spPr>
          <a:xfrm xmlns:a="http://schemas.openxmlformats.org/drawingml/2006/main">
            <a:off x="6477000" y="1619250"/>
            <a:ext cx="4762500" cy="3190875"/>
          </a:xfrm>
          <a:prstGeom xmlns:a="http://schemas.openxmlformats.org/drawingml/2006/main" prst="rect">
            <a:avLst/>
          </a:prstGeom>
          <a:solidFill xmlns:a="http://schemas.openxmlformats.org/drawingml/2006/main">
            <a:srgbClr val="FFFFFF"/>
          </a:solidFill>
          <a:ln xmlns:a="http://schemas.openxmlformats.org/drawingml/2006/main" w="28575">
            <a:solidFill>
              <a:srgbClr val="B85C38"/>
            </a:solidFill>
            <a:prstDash val="solid"/>
          </a:ln>
        </p:spPr>
      </p:sp>
      <p:sp>
        <p:nvSpPr>
          <p:cNvPr id="16" name="">
            <a:extLst xmlns:a="http://schemas.openxmlformats.org/drawingml/2006/main">
              <a:ext uri="{FF2B5EF4-FFF2-40B4-BE49-F238E27FC236}">
                <a16:creationId xmlns:a16="http://schemas.microsoft.com/office/drawing/2014/main" id="{9B1F2F4B-5E8A-43ED-8CA2-086AC53ACB91}"/>
              </a:ext>
            </a:extLst>
          </p:cNvPr>
          <p:cNvSpPr>
            <a:spLocks xmlns:a="http://schemas.openxmlformats.org/drawingml/2006/main" noGrp="1"/>
          </p:cNvSpPr>
          <p:nvPr/>
        </p:nvSpPr>
        <p:spPr>
          <a:xfrm xmlns:a="http://schemas.openxmlformats.org/drawingml/2006/main">
            <a:off x="6743700" y="188595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B85C38"/>
                </a:solidFill>
                <a:latin typeface="Aptos"/>
                <a:ea typeface="Aptos"/>
                <a:cs typeface="Aptos"/>
              </a:defRPr>
            </a:pPr>
            <a:r>
              <a:rPr sz="2100" b="1">
                <a:solidFill>
                  <a:srgbClr val="B85C38"/>
                </a:solidFill>
                <a:latin typeface="Aptos"/>
                <a:ea typeface="Aptos"/>
                <a:cs typeface="Aptos"/>
              </a:rPr>
              <a:t>Do not adapt</a:t>
            </a:r>
          </a:p>
        </p:txBody>
      </p:sp>
      <p:sp>
        <p:nvSpPr>
          <p:cNvPr id="17" name="">
            <a:extLst xmlns:a="http://schemas.openxmlformats.org/drawingml/2006/main">
              <a:ext uri="{FF2B5EF4-FFF2-40B4-BE49-F238E27FC236}">
                <a16:creationId xmlns:a16="http://schemas.microsoft.com/office/drawing/2014/main" id="{A36F1FDA-0B16-4FBC-BAA4-8C9AD3AAB635}"/>
              </a:ext>
            </a:extLst>
          </p:cNvPr>
          <p:cNvSpPr>
            <a:spLocks xmlns:a="http://schemas.openxmlformats.org/drawingml/2006/main" noGrp="1"/>
          </p:cNvSpPr>
          <p:nvPr/>
        </p:nvSpPr>
        <p:spPr>
          <a:xfrm xmlns:a="http://schemas.openxmlformats.org/drawingml/2006/main">
            <a:off x="6762750" y="2457450"/>
            <a:ext cx="114300" cy="114300"/>
          </a:xfrm>
          <a:prstGeom xmlns:a="http://schemas.openxmlformats.org/drawingml/2006/main" prst="rect">
            <a:avLst/>
          </a:prstGeom>
          <a:solidFill xmlns:a="http://schemas.openxmlformats.org/drawingml/2006/main">
            <a:srgbClr val="B85C38"/>
          </a:solidFill>
          <a:ln xmlns:a="http://schemas.openxmlformats.org/drawingml/2006/main" w="0">
            <a:solidFill>
              <a:srgbClr val="B85C38"/>
            </a:solidFill>
            <a:prstDash val="solid"/>
          </a:ln>
        </p:spPr>
      </p:sp>
      <p:sp>
        <p:nvSpPr>
          <p:cNvPr id="18" name="">
            <a:extLst xmlns:a="http://schemas.openxmlformats.org/drawingml/2006/main">
              <a:ext uri="{FF2B5EF4-FFF2-40B4-BE49-F238E27FC236}">
                <a16:creationId xmlns:a16="http://schemas.microsoft.com/office/drawing/2014/main" id="{F69498F7-E26B-431E-9C38-5CB38DC74958}"/>
              </a:ext>
            </a:extLst>
          </p:cNvPr>
          <p:cNvSpPr>
            <a:spLocks xmlns:a="http://schemas.openxmlformats.org/drawingml/2006/main" noGrp="1"/>
          </p:cNvSpPr>
          <p:nvPr/>
        </p:nvSpPr>
        <p:spPr>
          <a:xfrm xmlns:a="http://schemas.openxmlformats.org/drawingml/2006/main">
            <a:off x="6991350" y="2362200"/>
            <a:ext cx="3810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7212B"/>
                </a:solidFill>
                <a:latin typeface="Aptos"/>
                <a:ea typeface="Aptos"/>
                <a:cs typeface="Aptos"/>
              </a:defRPr>
            </a:pPr>
            <a:r>
              <a:rPr sz="1500" b="0">
                <a:solidFill>
                  <a:srgbClr val="17212B"/>
                </a:solidFill>
                <a:latin typeface="Aptos"/>
                <a:ea typeface="Aptos"/>
                <a:cs typeface="Aptos"/>
              </a:rPr>
              <a:t>antidepressant recommendation task</a:t>
            </a:r>
          </a:p>
        </p:txBody>
      </p:sp>
      <p:sp>
        <p:nvSpPr>
          <p:cNvPr id="19" name="">
            <a:extLst xmlns:a="http://schemas.openxmlformats.org/drawingml/2006/main">
              <a:ext uri="{FF2B5EF4-FFF2-40B4-BE49-F238E27FC236}">
                <a16:creationId xmlns:a16="http://schemas.microsoft.com/office/drawing/2014/main" id="{F6A27DA8-18BE-4B45-B640-0D50FCA3DFE7}"/>
              </a:ext>
            </a:extLst>
          </p:cNvPr>
          <p:cNvSpPr>
            <a:spLocks xmlns:a="http://schemas.openxmlformats.org/drawingml/2006/main" noGrp="1"/>
          </p:cNvSpPr>
          <p:nvPr/>
        </p:nvSpPr>
        <p:spPr>
          <a:xfrm xmlns:a="http://schemas.openxmlformats.org/drawingml/2006/main">
            <a:off x="6762750" y="3009900"/>
            <a:ext cx="114300" cy="114300"/>
          </a:xfrm>
          <a:prstGeom xmlns:a="http://schemas.openxmlformats.org/drawingml/2006/main" prst="rect">
            <a:avLst/>
          </a:prstGeom>
          <a:solidFill xmlns:a="http://schemas.openxmlformats.org/drawingml/2006/main">
            <a:srgbClr val="B85C38"/>
          </a:solidFill>
          <a:ln xmlns:a="http://schemas.openxmlformats.org/drawingml/2006/main" w="0">
            <a:solidFill>
              <a:srgbClr val="B85C38"/>
            </a:solidFill>
            <a:prstDash val="solid"/>
          </a:ln>
        </p:spPr>
      </p:sp>
      <p:sp>
        <p:nvSpPr>
          <p:cNvPr id="20" name="">
            <a:extLst xmlns:a="http://schemas.openxmlformats.org/drawingml/2006/main">
              <a:ext uri="{FF2B5EF4-FFF2-40B4-BE49-F238E27FC236}">
                <a16:creationId xmlns:a16="http://schemas.microsoft.com/office/drawing/2014/main" id="{505ACB88-16A6-442A-B42F-ED29AA0E2CA0}"/>
              </a:ext>
            </a:extLst>
          </p:cNvPr>
          <p:cNvSpPr>
            <a:spLocks xmlns:a="http://schemas.openxmlformats.org/drawingml/2006/main" noGrp="1"/>
          </p:cNvSpPr>
          <p:nvPr/>
        </p:nvSpPr>
        <p:spPr>
          <a:xfrm xmlns:a="http://schemas.openxmlformats.org/drawingml/2006/main">
            <a:off x="6991350" y="2914650"/>
            <a:ext cx="3810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7212B"/>
                </a:solidFill>
                <a:latin typeface="Aptos"/>
                <a:ea typeface="Aptos"/>
                <a:cs typeface="Aptos"/>
              </a:defRPr>
            </a:pPr>
            <a:r>
              <a:rPr sz="1500" b="0">
                <a:solidFill>
                  <a:srgbClr val="17212B"/>
                </a:solidFill>
                <a:latin typeface="Aptos"/>
                <a:ea typeface="Aptos"/>
                <a:cs typeface="Aptos"/>
              </a:rPr>
              <a:t>ED differential diagnosis task</a:t>
            </a:r>
          </a:p>
        </p:txBody>
      </p:sp>
      <p:sp>
        <p:nvSpPr>
          <p:cNvPr id="21" name="">
            <a:extLst xmlns:a="http://schemas.openxmlformats.org/drawingml/2006/main">
              <a:ext uri="{FF2B5EF4-FFF2-40B4-BE49-F238E27FC236}">
                <a16:creationId xmlns:a16="http://schemas.microsoft.com/office/drawing/2014/main" id="{17D460B6-E9EE-4619-A435-1E6E70AF9016}"/>
              </a:ext>
            </a:extLst>
          </p:cNvPr>
          <p:cNvSpPr>
            <a:spLocks xmlns:a="http://schemas.openxmlformats.org/drawingml/2006/main" noGrp="1"/>
          </p:cNvSpPr>
          <p:nvPr/>
        </p:nvSpPr>
        <p:spPr>
          <a:xfrm xmlns:a="http://schemas.openxmlformats.org/drawingml/2006/main">
            <a:off x="6762750" y="3562350"/>
            <a:ext cx="114300" cy="114300"/>
          </a:xfrm>
          <a:prstGeom xmlns:a="http://schemas.openxmlformats.org/drawingml/2006/main" prst="rect">
            <a:avLst/>
          </a:prstGeom>
          <a:solidFill xmlns:a="http://schemas.openxmlformats.org/drawingml/2006/main">
            <a:srgbClr val="B85C38"/>
          </a:solidFill>
          <a:ln xmlns:a="http://schemas.openxmlformats.org/drawingml/2006/main" w="0">
            <a:solidFill>
              <a:srgbClr val="B85C38"/>
            </a:solidFill>
            <a:prstDash val="solid"/>
          </a:ln>
        </p:spPr>
      </p:sp>
      <p:sp>
        <p:nvSpPr>
          <p:cNvPr id="22" name="">
            <a:extLst xmlns:a="http://schemas.openxmlformats.org/drawingml/2006/main">
              <a:ext uri="{FF2B5EF4-FFF2-40B4-BE49-F238E27FC236}">
                <a16:creationId xmlns:a16="http://schemas.microsoft.com/office/drawing/2014/main" id="{D4AFA484-F273-432F-9A65-BB9AC94B248A}"/>
              </a:ext>
            </a:extLst>
          </p:cNvPr>
          <p:cNvSpPr>
            <a:spLocks xmlns:a="http://schemas.openxmlformats.org/drawingml/2006/main" noGrp="1"/>
          </p:cNvSpPr>
          <p:nvPr/>
        </p:nvSpPr>
        <p:spPr>
          <a:xfrm xmlns:a="http://schemas.openxmlformats.org/drawingml/2006/main">
            <a:off x="6991350" y="3467100"/>
            <a:ext cx="3810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7212B"/>
                </a:solidFill>
                <a:latin typeface="Aptos"/>
                <a:ea typeface="Aptos"/>
                <a:cs typeface="Aptos"/>
              </a:defRPr>
            </a:pPr>
            <a:r>
              <a:rPr sz="1500" b="0">
                <a:solidFill>
                  <a:srgbClr val="17212B"/>
                </a:solidFill>
                <a:latin typeface="Aptos"/>
                <a:ea typeface="Aptos"/>
                <a:cs typeface="Aptos"/>
              </a:rPr>
              <a:t>medical student training goal</a:t>
            </a:r>
          </a:p>
        </p:txBody>
      </p:sp>
      <p:sp>
        <p:nvSpPr>
          <p:cNvPr id="23" name="">
            <a:extLst xmlns:a="http://schemas.openxmlformats.org/drawingml/2006/main">
              <a:ext uri="{FF2B5EF4-FFF2-40B4-BE49-F238E27FC236}">
                <a16:creationId xmlns:a16="http://schemas.microsoft.com/office/drawing/2014/main" id="{289680B9-7E7F-42F1-9B18-9A9660FEDE5A}"/>
              </a:ext>
            </a:extLst>
          </p:cNvPr>
          <p:cNvSpPr>
            <a:spLocks xmlns:a="http://schemas.openxmlformats.org/drawingml/2006/main" noGrp="1"/>
          </p:cNvSpPr>
          <p:nvPr/>
        </p:nvSpPr>
        <p:spPr>
          <a:xfrm xmlns:a="http://schemas.openxmlformats.org/drawingml/2006/main">
            <a:off x="6762750" y="4114800"/>
            <a:ext cx="114300" cy="114300"/>
          </a:xfrm>
          <a:prstGeom xmlns:a="http://schemas.openxmlformats.org/drawingml/2006/main" prst="rect">
            <a:avLst/>
          </a:prstGeom>
          <a:solidFill xmlns:a="http://schemas.openxmlformats.org/drawingml/2006/main">
            <a:srgbClr val="B85C38"/>
          </a:solidFill>
          <a:ln xmlns:a="http://schemas.openxmlformats.org/drawingml/2006/main" w="0">
            <a:solidFill>
              <a:srgbClr val="B85C38"/>
            </a:solidFill>
            <a:prstDash val="solid"/>
          </a:ln>
        </p:spPr>
      </p:sp>
      <p:sp>
        <p:nvSpPr>
          <p:cNvPr id="24" name="">
            <a:extLst xmlns:a="http://schemas.openxmlformats.org/drawingml/2006/main">
              <a:ext uri="{FF2B5EF4-FFF2-40B4-BE49-F238E27FC236}">
                <a16:creationId xmlns:a16="http://schemas.microsoft.com/office/drawing/2014/main" id="{D152669F-9C4E-4EC9-8295-16D5F16F46C0}"/>
              </a:ext>
            </a:extLst>
          </p:cNvPr>
          <p:cNvSpPr>
            <a:spLocks xmlns:a="http://schemas.openxmlformats.org/drawingml/2006/main" noGrp="1"/>
          </p:cNvSpPr>
          <p:nvPr/>
        </p:nvSpPr>
        <p:spPr>
          <a:xfrm xmlns:a="http://schemas.openxmlformats.org/drawingml/2006/main">
            <a:off x="6991350" y="4019550"/>
            <a:ext cx="3810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7212B"/>
                </a:solidFill>
                <a:latin typeface="Aptos"/>
                <a:ea typeface="Aptos"/>
                <a:cs typeface="Aptos"/>
              </a:defRPr>
            </a:pPr>
            <a:r>
              <a:rPr sz="1500" b="0">
                <a:solidFill>
                  <a:srgbClr val="17212B"/>
                </a:solidFill>
                <a:latin typeface="Aptos"/>
                <a:ea typeface="Aptos"/>
                <a:cs typeface="Aptos"/>
              </a:rPr>
              <a:t>clinical outcome claims</a:t>
            </a:r>
          </a:p>
        </p:txBody>
      </p:sp>
      <p:sp>
        <p:nvSpPr>
          <p:cNvPr id="25" name="">
            <a:extLst xmlns:a="http://schemas.openxmlformats.org/drawingml/2006/main">
              <a:ext uri="{FF2B5EF4-FFF2-40B4-BE49-F238E27FC236}">
                <a16:creationId xmlns:a16="http://schemas.microsoft.com/office/drawing/2014/main" id="{91BA7D3C-AF18-4ECC-9952-46FEBBD12BB4}"/>
              </a:ext>
            </a:extLst>
          </p:cNvPr>
          <p:cNvSpPr>
            <a:spLocks xmlns:a="http://schemas.openxmlformats.org/drawingml/2006/main" noGrp="1"/>
          </p:cNvSpPr>
          <p:nvPr/>
        </p:nvSpPr>
        <p:spPr>
          <a:xfrm xmlns:a="http://schemas.openxmlformats.org/drawingml/2006/main">
            <a:off x="6762750" y="4667250"/>
            <a:ext cx="114300" cy="114300"/>
          </a:xfrm>
          <a:prstGeom xmlns:a="http://schemas.openxmlformats.org/drawingml/2006/main" prst="rect">
            <a:avLst/>
          </a:prstGeom>
          <a:solidFill xmlns:a="http://schemas.openxmlformats.org/drawingml/2006/main">
            <a:srgbClr val="B85C38"/>
          </a:solidFill>
          <a:ln xmlns:a="http://schemas.openxmlformats.org/drawingml/2006/main" w="0">
            <a:solidFill>
              <a:srgbClr val="B85C38"/>
            </a:solidFill>
            <a:prstDash val="solid"/>
          </a:ln>
        </p:spPr>
      </p:sp>
      <p:sp>
        <p:nvSpPr>
          <p:cNvPr id="26" name="">
            <a:extLst xmlns:a="http://schemas.openxmlformats.org/drawingml/2006/main">
              <a:ext uri="{FF2B5EF4-FFF2-40B4-BE49-F238E27FC236}">
                <a16:creationId xmlns:a16="http://schemas.microsoft.com/office/drawing/2014/main" id="{094709E8-4587-4569-B5AC-1B748F1A2372}"/>
              </a:ext>
            </a:extLst>
          </p:cNvPr>
          <p:cNvSpPr>
            <a:spLocks xmlns:a="http://schemas.openxmlformats.org/drawingml/2006/main" noGrp="1"/>
          </p:cNvSpPr>
          <p:nvPr/>
        </p:nvSpPr>
        <p:spPr>
          <a:xfrm xmlns:a="http://schemas.openxmlformats.org/drawingml/2006/main">
            <a:off x="6991350" y="4572000"/>
            <a:ext cx="3810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7212B"/>
                </a:solidFill>
                <a:latin typeface="Aptos"/>
                <a:ea typeface="Aptos"/>
                <a:cs typeface="Aptos"/>
              </a:defRPr>
            </a:pPr>
            <a:r>
              <a:rPr sz="1500" b="0">
                <a:solidFill>
                  <a:srgbClr val="17212B"/>
                </a:solidFill>
                <a:latin typeface="Aptos"/>
                <a:ea typeface="Aptos"/>
                <a:cs typeface="Aptos"/>
              </a:rPr>
              <a:t>full caregiver workflow claims</a:t>
            </a:r>
          </a:p>
        </p:txBody>
      </p:sp>
      <p:sp>
        <p:nvSpPr>
          <p:cNvPr id="27" name="">
            <a:extLst xmlns:a="http://schemas.openxmlformats.org/drawingml/2006/main">
              <a:ext uri="{FF2B5EF4-FFF2-40B4-BE49-F238E27FC236}">
                <a16:creationId xmlns:a16="http://schemas.microsoft.com/office/drawing/2014/main" id="{AEF01C5D-605B-440A-8E7E-94F077DC465F}"/>
              </a:ext>
            </a:extLst>
          </p:cNvPr>
          <p:cNvSpPr>
            <a:spLocks xmlns:a="http://schemas.openxmlformats.org/drawingml/2006/main" noGrp="1"/>
          </p:cNvSpPr>
          <p:nvPr/>
        </p:nvSpPr>
        <p:spPr>
          <a:xfrm xmlns:a="http://schemas.openxmlformats.org/drawingml/2006/main">
            <a:off x="1200150" y="588645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17212B"/>
                </a:solidFill>
                <a:latin typeface="Aptos"/>
                <a:ea typeface="Aptos"/>
                <a:cs typeface="Aptos"/>
              </a:defRPr>
            </a:pPr>
            <a:r>
              <a:rPr sz="1650" b="1">
                <a:solidFill>
                  <a:srgbClr val="17212B"/>
                </a:solidFill>
                <a:latin typeface="Aptos"/>
                <a:ea typeface="Aptos"/>
                <a:cs typeface="Aptos"/>
              </a:rPr>
              <a:t>Keep the paper anchored to the 4Ms app: self-report, accessibility, contextual AI support.</a:t>
            </a:r>
          </a:p>
        </p:txBody>
      </p:sp>
    </p:spTree>
    <p:extLst>
      <p:ext uri="{BB962C8B-B14F-4D97-AF65-F5344CB8AC3E}">
        <p14:creationId xmlns:p14="http://schemas.microsoft.com/office/powerpoint/2010/main" val="2108843608"/>
      </p:ext>
    </p:extLst>
  </p:cSld>
</p:sld>
</file>

<file path=ppt/slides/slide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01A733-93EB-4E19-9DC3-025C7506A623}"/>
              </a:ext>
            </a:extLst>
          </p:cNvPr>
          <p:cNvSpPr>
            <a:spLocks xmlns:a="http://schemas.openxmlformats.org/drawingml/2006/main" noGrp="1"/>
          </p:cNvSpPr>
          <p:nvPr/>
        </p:nvSpPr>
        <p:spPr>
          <a:xfrm xmlns:a="http://schemas.openxmlformats.org/drawingml/2006/main">
            <a:off x="609600" y="41910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2F7D78"/>
                </a:solidFill>
                <a:latin typeface="Aptos"/>
                <a:ea typeface="Aptos"/>
                <a:cs typeface="Aptos"/>
              </a:defRPr>
            </a:pPr>
            <a:r>
              <a:rPr sz="1050" b="1">
                <a:solidFill>
                  <a:srgbClr val="2F7D78"/>
                </a:solidFill>
                <a:latin typeface="Aptos"/>
                <a:ea typeface="Aptos"/>
                <a:cs typeface="Aptos"/>
              </a:rPr>
              <a:t>PROPOSED BENCHMARK</a:t>
            </a:r>
          </a:p>
        </p:txBody>
      </p:sp>
      <p:sp>
        <p:nvSpPr>
          <p:cNvPr id="2" name="">
            <a:extLst xmlns:a="http://schemas.openxmlformats.org/drawingml/2006/main">
              <a:ext uri="{FF2B5EF4-FFF2-40B4-BE49-F238E27FC236}">
                <a16:creationId xmlns:a16="http://schemas.microsoft.com/office/drawing/2014/main" id="{505E757A-2805-4A58-9F4B-A55B9D830734}"/>
              </a:ext>
            </a:extLst>
          </p:cNvPr>
          <p:cNvSpPr>
            <a:spLocks xmlns:a="http://schemas.openxmlformats.org/drawingml/2006/main" noGrp="1"/>
          </p:cNvSpPr>
          <p:nvPr/>
        </p:nvSpPr>
        <p:spPr>
          <a:xfrm xmlns:a="http://schemas.openxmlformats.org/drawingml/2006/main">
            <a:off x="609600" y="723900"/>
            <a:ext cx="8953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7212B"/>
                </a:solidFill>
                <a:latin typeface="Aptos Display"/>
                <a:ea typeface="Aptos Display"/>
                <a:cs typeface="Aptos Display"/>
              </a:defRPr>
            </a:pPr>
            <a:r>
              <a:rPr sz="2700" b="1">
                <a:solidFill>
                  <a:srgbClr val="17212B"/>
                </a:solidFill>
                <a:latin typeface="Aptos Display"/>
                <a:ea typeface="Aptos Display"/>
                <a:cs typeface="Aptos Display"/>
              </a:rPr>
              <a:t>A 4Ms simulation layer makes the app research-grade.</a:t>
            </a:r>
          </a:p>
        </p:txBody>
      </p:sp>
      <p:sp>
        <p:nvSpPr>
          <p:cNvPr id="3" name="">
            <a:extLst xmlns:a="http://schemas.openxmlformats.org/drawingml/2006/main">
              <a:ext uri="{FF2B5EF4-FFF2-40B4-BE49-F238E27FC236}">
                <a16:creationId xmlns:a16="http://schemas.microsoft.com/office/drawing/2014/main" id="{D0B05021-F771-45F1-AD28-7E01B31BF57F}"/>
              </a:ext>
            </a:extLst>
          </p:cNvPr>
          <p:cNvSpPr>
            <a:spLocks xmlns:a="http://schemas.openxmlformats.org/drawingml/2006/main" noGrp="1"/>
          </p:cNvSpPr>
          <p:nvPr/>
        </p:nvSpPr>
        <p:spPr>
          <a:xfrm xmlns:a="http://schemas.openxmlformats.org/drawingml/2006/main">
            <a:off x="781050" y="2190750"/>
            <a:ext cx="1619250" cy="1524000"/>
          </a:xfrm>
          <a:prstGeom xmlns:a="http://schemas.openxmlformats.org/drawingml/2006/main" prst="rect">
            <a:avLst/>
          </a:prstGeom>
          <a:solidFill xmlns:a="http://schemas.openxmlformats.org/drawingml/2006/main">
            <a:srgbClr val="FFFFFF"/>
          </a:solidFill>
          <a:ln xmlns:a="http://schemas.openxmlformats.org/drawingml/2006/main" w="28575">
            <a:solidFill>
              <a:srgbClr val="285C7D"/>
            </a:solidFill>
            <a:prstDash val="solid"/>
          </a:ln>
        </p:spPr>
      </p:sp>
      <p:sp>
        <p:nvSpPr>
          <p:cNvPr id="4" name="">
            <a:extLst xmlns:a="http://schemas.openxmlformats.org/drawingml/2006/main">
              <a:ext uri="{FF2B5EF4-FFF2-40B4-BE49-F238E27FC236}">
                <a16:creationId xmlns:a16="http://schemas.microsoft.com/office/drawing/2014/main" id="{877D0209-3147-426C-9A6B-42A9525BACF8}"/>
              </a:ext>
            </a:extLst>
          </p:cNvPr>
          <p:cNvSpPr>
            <a:spLocks xmlns:a="http://schemas.openxmlformats.org/drawingml/2006/main" noGrp="1"/>
          </p:cNvSpPr>
          <p:nvPr/>
        </p:nvSpPr>
        <p:spPr>
          <a:xfrm xmlns:a="http://schemas.openxmlformats.org/drawingml/2006/main">
            <a:off x="952500" y="2381250"/>
            <a:ext cx="400050" cy="400050"/>
          </a:xfrm>
          <a:prstGeom xmlns:a="http://schemas.openxmlformats.org/drawingml/2006/main" prst="rect">
            <a:avLst/>
          </a:prstGeom>
          <a:solidFill xmlns:a="http://schemas.openxmlformats.org/drawingml/2006/main">
            <a:srgbClr val="285C7D"/>
          </a:solidFill>
          <a:ln xmlns:a="http://schemas.openxmlformats.org/drawingml/2006/main" w="0">
            <a:solidFill>
              <a:srgbClr val="285C7D"/>
            </a:solidFill>
            <a:prstDash val="solid"/>
          </a:ln>
        </p:spPr>
      </p:sp>
      <p:sp>
        <p:nvSpPr>
          <p:cNvPr id="5" name="">
            <a:extLst xmlns:a="http://schemas.openxmlformats.org/drawingml/2006/main">
              <a:ext uri="{FF2B5EF4-FFF2-40B4-BE49-F238E27FC236}">
                <a16:creationId xmlns:a16="http://schemas.microsoft.com/office/drawing/2014/main" id="{D6D983E2-9A73-4EA4-8202-7EBE9FD74E63}"/>
              </a:ext>
            </a:extLst>
          </p:cNvPr>
          <p:cNvSpPr>
            <a:spLocks xmlns:a="http://schemas.openxmlformats.org/drawingml/2006/main" noGrp="1"/>
          </p:cNvSpPr>
          <p:nvPr/>
        </p:nvSpPr>
        <p:spPr>
          <a:xfrm xmlns:a="http://schemas.openxmlformats.org/drawingml/2006/main">
            <a:off x="952500" y="2447925"/>
            <a:ext cx="400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558C03ED-3A11-4EAB-B9EB-339C73B2D366}"/>
              </a:ext>
            </a:extLst>
          </p:cNvPr>
          <p:cNvSpPr>
            <a:spLocks xmlns:a="http://schemas.openxmlformats.org/drawingml/2006/main" noGrp="1"/>
          </p:cNvSpPr>
          <p:nvPr/>
        </p:nvSpPr>
        <p:spPr>
          <a:xfrm xmlns:a="http://schemas.openxmlformats.org/drawingml/2006/main">
            <a:off x="952500" y="2952750"/>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285C7D"/>
                </a:solidFill>
                <a:latin typeface="Aptos"/>
                <a:ea typeface="Aptos"/>
                <a:cs typeface="Aptos"/>
              </a:defRPr>
            </a:pPr>
            <a:r>
              <a:rPr sz="1425" b="1">
                <a:solidFill>
                  <a:srgbClr val="285C7D"/>
                </a:solidFill>
                <a:latin typeface="Aptos"/>
                <a:ea typeface="Aptos"/>
                <a:cs typeface="Aptos"/>
              </a:rPr>
              <a:t>Profiles</a:t>
            </a:r>
          </a:p>
        </p:txBody>
      </p:sp>
      <p:sp>
        <p:nvSpPr>
          <p:cNvPr id="7" name="">
            <a:extLst xmlns:a="http://schemas.openxmlformats.org/drawingml/2006/main">
              <a:ext uri="{FF2B5EF4-FFF2-40B4-BE49-F238E27FC236}">
                <a16:creationId xmlns:a16="http://schemas.microsoft.com/office/drawing/2014/main" id="{B007706D-B65D-4B9C-9A40-DFF37426FCF7}"/>
              </a:ext>
            </a:extLst>
          </p:cNvPr>
          <p:cNvSpPr>
            <a:spLocks xmlns:a="http://schemas.openxmlformats.org/drawingml/2006/main" noGrp="1"/>
          </p:cNvSpPr>
          <p:nvPr/>
        </p:nvSpPr>
        <p:spPr>
          <a:xfrm xmlns:a="http://schemas.openxmlformats.org/drawingml/2006/main">
            <a:off x="952500" y="3238500"/>
            <a:ext cx="1276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40-100 older-adult cases</a:t>
            </a:r>
          </a:p>
        </p:txBody>
      </p:sp>
      <p:sp>
        <p:nvSpPr>
          <p:cNvPr id="8" name="">
            <a:extLst xmlns:a="http://schemas.openxmlformats.org/drawingml/2006/main">
              <a:ext uri="{FF2B5EF4-FFF2-40B4-BE49-F238E27FC236}">
                <a16:creationId xmlns:a16="http://schemas.microsoft.com/office/drawing/2014/main" id="{81A65C60-D897-4CFB-B218-08A1EEAA1B16}"/>
              </a:ext>
            </a:extLst>
          </p:cNvPr>
          <p:cNvSpPr>
            <a:spLocks xmlns:a="http://schemas.openxmlformats.org/drawingml/2006/main" noGrp="1"/>
          </p:cNvSpPr>
          <p:nvPr/>
        </p:nvSpPr>
        <p:spPr>
          <a:xfrm xmlns:a="http://schemas.openxmlformats.org/drawingml/2006/main">
            <a:off x="2400300" y="2933700"/>
            <a:ext cx="438150" cy="38100"/>
          </a:xfrm>
          <a:prstGeom xmlns:a="http://schemas.openxmlformats.org/drawingml/2006/main" prst="rect">
            <a:avLst/>
          </a:prstGeom>
          <a:solidFill xmlns:a="http://schemas.openxmlformats.org/drawingml/2006/main">
            <a:srgbClr val="D8D0C2"/>
          </a:solidFill>
          <a:ln xmlns:a="http://schemas.openxmlformats.org/drawingml/2006/main" w="0">
            <a:solidFill>
              <a:srgbClr val="D8D0C2"/>
            </a:solidFill>
            <a:prstDash val="solid"/>
          </a:ln>
        </p:spPr>
      </p:sp>
      <p:sp>
        <p:nvSpPr>
          <p:cNvPr id="9" name="">
            <a:extLst xmlns:a="http://schemas.openxmlformats.org/drawingml/2006/main">
              <a:ext uri="{FF2B5EF4-FFF2-40B4-BE49-F238E27FC236}">
                <a16:creationId xmlns:a16="http://schemas.microsoft.com/office/drawing/2014/main" id="{41F7FC5C-02B3-4A71-A676-DFB82131B108}"/>
              </a:ext>
            </a:extLst>
          </p:cNvPr>
          <p:cNvSpPr>
            <a:spLocks xmlns:a="http://schemas.openxmlformats.org/drawingml/2006/main" noGrp="1"/>
          </p:cNvSpPr>
          <p:nvPr/>
        </p:nvSpPr>
        <p:spPr>
          <a:xfrm xmlns:a="http://schemas.openxmlformats.org/drawingml/2006/main">
            <a:off x="2838450" y="2190750"/>
            <a:ext cx="1619250" cy="1524000"/>
          </a:xfrm>
          <a:prstGeom xmlns:a="http://schemas.openxmlformats.org/drawingml/2006/main" prst="rect">
            <a:avLst/>
          </a:prstGeom>
          <a:solidFill xmlns:a="http://schemas.openxmlformats.org/drawingml/2006/main">
            <a:srgbClr val="FFFFFF"/>
          </a:solidFill>
          <a:ln xmlns:a="http://schemas.openxmlformats.org/drawingml/2006/main" w="28575">
            <a:solidFill>
              <a:srgbClr val="D19A2A"/>
            </a:solidFill>
            <a:prstDash val="solid"/>
          </a:ln>
        </p:spPr>
      </p:sp>
      <p:sp>
        <p:nvSpPr>
          <p:cNvPr id="10" name="">
            <a:extLst xmlns:a="http://schemas.openxmlformats.org/drawingml/2006/main">
              <a:ext uri="{FF2B5EF4-FFF2-40B4-BE49-F238E27FC236}">
                <a16:creationId xmlns:a16="http://schemas.microsoft.com/office/drawing/2014/main" id="{CB384742-924E-4E17-8820-E76D8870EA72}"/>
              </a:ext>
            </a:extLst>
          </p:cNvPr>
          <p:cNvSpPr>
            <a:spLocks xmlns:a="http://schemas.openxmlformats.org/drawingml/2006/main" noGrp="1"/>
          </p:cNvSpPr>
          <p:nvPr/>
        </p:nvSpPr>
        <p:spPr>
          <a:xfrm xmlns:a="http://schemas.openxmlformats.org/drawingml/2006/main">
            <a:off x="3009900" y="2381250"/>
            <a:ext cx="400050" cy="400050"/>
          </a:xfrm>
          <a:prstGeom xmlns:a="http://schemas.openxmlformats.org/drawingml/2006/main" prst="rect">
            <a:avLst/>
          </a:prstGeom>
          <a:solidFill xmlns:a="http://schemas.openxmlformats.org/drawingml/2006/main">
            <a:srgbClr val="D19A2A"/>
          </a:solidFill>
          <a:ln xmlns:a="http://schemas.openxmlformats.org/drawingml/2006/main" w="0">
            <a:solidFill>
              <a:srgbClr val="D19A2A"/>
            </a:solidFill>
            <a:prstDash val="solid"/>
          </a:ln>
        </p:spPr>
      </p:sp>
      <p:sp>
        <p:nvSpPr>
          <p:cNvPr id="11" name="">
            <a:extLst xmlns:a="http://schemas.openxmlformats.org/drawingml/2006/main">
              <a:ext uri="{FF2B5EF4-FFF2-40B4-BE49-F238E27FC236}">
                <a16:creationId xmlns:a16="http://schemas.microsoft.com/office/drawing/2014/main" id="{AEC0CB0C-6C2A-4D69-9D33-01E40089012E}"/>
              </a:ext>
            </a:extLst>
          </p:cNvPr>
          <p:cNvSpPr>
            <a:spLocks xmlns:a="http://schemas.openxmlformats.org/drawingml/2006/main" noGrp="1"/>
          </p:cNvSpPr>
          <p:nvPr/>
        </p:nvSpPr>
        <p:spPr>
          <a:xfrm xmlns:a="http://schemas.openxmlformats.org/drawingml/2006/main">
            <a:off x="3009900" y="2447925"/>
            <a:ext cx="400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A09453AA-0F15-495A-88F1-77CAEC471E1E}"/>
              </a:ext>
            </a:extLst>
          </p:cNvPr>
          <p:cNvSpPr>
            <a:spLocks xmlns:a="http://schemas.openxmlformats.org/drawingml/2006/main" noGrp="1"/>
          </p:cNvSpPr>
          <p:nvPr/>
        </p:nvSpPr>
        <p:spPr>
          <a:xfrm xmlns:a="http://schemas.openxmlformats.org/drawingml/2006/main">
            <a:off x="3009900" y="2952750"/>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D19A2A"/>
                </a:solidFill>
                <a:latin typeface="Aptos"/>
                <a:ea typeface="Aptos"/>
                <a:cs typeface="Aptos"/>
              </a:defRPr>
            </a:pPr>
            <a:r>
              <a:rPr sz="1425" b="1">
                <a:solidFill>
                  <a:srgbClr val="D19A2A"/>
                </a:solidFill>
                <a:latin typeface="Aptos"/>
                <a:ea typeface="Aptos"/>
                <a:cs typeface="Aptos"/>
              </a:rPr>
              <a:t>Variants</a:t>
            </a:r>
          </a:p>
        </p:txBody>
      </p:sp>
      <p:sp>
        <p:nvSpPr>
          <p:cNvPr id="13" name="">
            <a:extLst xmlns:a="http://schemas.openxmlformats.org/drawingml/2006/main">
              <a:ext uri="{FF2B5EF4-FFF2-40B4-BE49-F238E27FC236}">
                <a16:creationId xmlns:a16="http://schemas.microsoft.com/office/drawing/2014/main" id="{6073AD44-6012-4473-B3DC-11E386F5B7A0}"/>
              </a:ext>
            </a:extLst>
          </p:cNvPr>
          <p:cNvSpPr>
            <a:spLocks xmlns:a="http://schemas.openxmlformats.org/drawingml/2006/main" noGrp="1"/>
          </p:cNvSpPr>
          <p:nvPr/>
        </p:nvSpPr>
        <p:spPr>
          <a:xfrm xmlns:a="http://schemas.openxmlformats.org/drawingml/2006/main">
            <a:off x="3009900" y="3238500"/>
            <a:ext cx="1276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literacy, recall, behavior</a:t>
            </a:r>
          </a:p>
        </p:txBody>
      </p:sp>
      <p:sp>
        <p:nvSpPr>
          <p:cNvPr id="14" name="">
            <a:extLst xmlns:a="http://schemas.openxmlformats.org/drawingml/2006/main">
              <a:ext uri="{FF2B5EF4-FFF2-40B4-BE49-F238E27FC236}">
                <a16:creationId xmlns:a16="http://schemas.microsoft.com/office/drawing/2014/main" id="{AF60393A-C075-4838-80AA-951152F93BDB}"/>
              </a:ext>
            </a:extLst>
          </p:cNvPr>
          <p:cNvSpPr>
            <a:spLocks xmlns:a="http://schemas.openxmlformats.org/drawingml/2006/main" noGrp="1"/>
          </p:cNvSpPr>
          <p:nvPr/>
        </p:nvSpPr>
        <p:spPr>
          <a:xfrm xmlns:a="http://schemas.openxmlformats.org/drawingml/2006/main">
            <a:off x="4457700" y="2933700"/>
            <a:ext cx="438150" cy="38100"/>
          </a:xfrm>
          <a:prstGeom xmlns:a="http://schemas.openxmlformats.org/drawingml/2006/main" prst="rect">
            <a:avLst/>
          </a:prstGeom>
          <a:solidFill xmlns:a="http://schemas.openxmlformats.org/drawingml/2006/main">
            <a:srgbClr val="D8D0C2"/>
          </a:solidFill>
          <a:ln xmlns:a="http://schemas.openxmlformats.org/drawingml/2006/main" w="0">
            <a:solidFill>
              <a:srgbClr val="D8D0C2"/>
            </a:solidFill>
            <a:prstDash val="solid"/>
          </a:ln>
        </p:spPr>
      </p:sp>
      <p:sp>
        <p:nvSpPr>
          <p:cNvPr id="15" name="">
            <a:extLst xmlns:a="http://schemas.openxmlformats.org/drawingml/2006/main">
              <a:ext uri="{FF2B5EF4-FFF2-40B4-BE49-F238E27FC236}">
                <a16:creationId xmlns:a16="http://schemas.microsoft.com/office/drawing/2014/main" id="{9EB67F31-8EE6-42DF-BF5C-2B1205C7CEA3}"/>
              </a:ext>
            </a:extLst>
          </p:cNvPr>
          <p:cNvSpPr>
            <a:spLocks xmlns:a="http://schemas.openxmlformats.org/drawingml/2006/main" noGrp="1"/>
          </p:cNvSpPr>
          <p:nvPr/>
        </p:nvSpPr>
        <p:spPr>
          <a:xfrm xmlns:a="http://schemas.openxmlformats.org/drawingml/2006/main">
            <a:off x="4895850" y="2190750"/>
            <a:ext cx="1619250" cy="1524000"/>
          </a:xfrm>
          <a:prstGeom xmlns:a="http://schemas.openxmlformats.org/drawingml/2006/main" prst="rect">
            <a:avLst/>
          </a:prstGeom>
          <a:solidFill xmlns:a="http://schemas.openxmlformats.org/drawingml/2006/main">
            <a:srgbClr val="FFFFFF"/>
          </a:solidFill>
          <a:ln xmlns:a="http://schemas.openxmlformats.org/drawingml/2006/main" w="28575">
            <a:solidFill>
              <a:srgbClr val="2F7D78"/>
            </a:solidFill>
            <a:prstDash val="solid"/>
          </a:ln>
        </p:spPr>
      </p:sp>
      <p:sp>
        <p:nvSpPr>
          <p:cNvPr id="16" name="">
            <a:extLst xmlns:a="http://schemas.openxmlformats.org/drawingml/2006/main">
              <a:ext uri="{FF2B5EF4-FFF2-40B4-BE49-F238E27FC236}">
                <a16:creationId xmlns:a16="http://schemas.microsoft.com/office/drawing/2014/main" id="{5CE7AF5C-07B3-45A6-9ECB-5A5DE35F226C}"/>
              </a:ext>
            </a:extLst>
          </p:cNvPr>
          <p:cNvSpPr>
            <a:spLocks xmlns:a="http://schemas.openxmlformats.org/drawingml/2006/main" noGrp="1"/>
          </p:cNvSpPr>
          <p:nvPr/>
        </p:nvSpPr>
        <p:spPr>
          <a:xfrm xmlns:a="http://schemas.openxmlformats.org/drawingml/2006/main">
            <a:off x="5067300" y="2381250"/>
            <a:ext cx="400050" cy="40005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17" name="">
            <a:extLst xmlns:a="http://schemas.openxmlformats.org/drawingml/2006/main">
              <a:ext uri="{FF2B5EF4-FFF2-40B4-BE49-F238E27FC236}">
                <a16:creationId xmlns:a16="http://schemas.microsoft.com/office/drawing/2014/main" id="{0558E94B-EFE7-46E2-A8FC-04409601FAF4}"/>
              </a:ext>
            </a:extLst>
          </p:cNvPr>
          <p:cNvSpPr>
            <a:spLocks xmlns:a="http://schemas.openxmlformats.org/drawingml/2006/main" noGrp="1"/>
          </p:cNvSpPr>
          <p:nvPr/>
        </p:nvSpPr>
        <p:spPr>
          <a:xfrm xmlns:a="http://schemas.openxmlformats.org/drawingml/2006/main">
            <a:off x="5067300" y="2447925"/>
            <a:ext cx="400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3</a:t>
            </a:r>
          </a:p>
        </p:txBody>
      </p:sp>
      <p:sp>
        <p:nvSpPr>
          <p:cNvPr id="18" name="">
            <a:extLst xmlns:a="http://schemas.openxmlformats.org/drawingml/2006/main">
              <a:ext uri="{FF2B5EF4-FFF2-40B4-BE49-F238E27FC236}">
                <a16:creationId xmlns:a16="http://schemas.microsoft.com/office/drawing/2014/main" id="{AE9CEF5B-8868-451C-A6E6-83216AB14A9B}"/>
              </a:ext>
            </a:extLst>
          </p:cNvPr>
          <p:cNvSpPr>
            <a:spLocks xmlns:a="http://schemas.openxmlformats.org/drawingml/2006/main" noGrp="1"/>
          </p:cNvSpPr>
          <p:nvPr/>
        </p:nvSpPr>
        <p:spPr>
          <a:xfrm xmlns:a="http://schemas.openxmlformats.org/drawingml/2006/main">
            <a:off x="5067300" y="2952750"/>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2F7D78"/>
                </a:solidFill>
                <a:latin typeface="Aptos"/>
                <a:ea typeface="Aptos"/>
                <a:cs typeface="Aptos"/>
              </a:defRPr>
            </a:pPr>
            <a:r>
              <a:rPr sz="1425" b="1">
                <a:solidFill>
                  <a:srgbClr val="2F7D78"/>
                </a:solidFill>
                <a:latin typeface="Aptos"/>
                <a:ea typeface="Aptos"/>
                <a:cs typeface="Aptos"/>
              </a:rPr>
              <a:t>Chat tasks</a:t>
            </a:r>
          </a:p>
        </p:txBody>
      </p:sp>
      <p:sp>
        <p:nvSpPr>
          <p:cNvPr id="19" name="">
            <a:extLst xmlns:a="http://schemas.openxmlformats.org/drawingml/2006/main">
              <a:ext uri="{FF2B5EF4-FFF2-40B4-BE49-F238E27FC236}">
                <a16:creationId xmlns:a16="http://schemas.microsoft.com/office/drawing/2014/main" id="{F85C7A23-2C08-4A80-A486-580E235122CE}"/>
              </a:ext>
            </a:extLst>
          </p:cNvPr>
          <p:cNvSpPr>
            <a:spLocks xmlns:a="http://schemas.openxmlformats.org/drawingml/2006/main" noGrp="1"/>
          </p:cNvSpPr>
          <p:nvPr/>
        </p:nvSpPr>
        <p:spPr>
          <a:xfrm xmlns:a="http://schemas.openxmlformats.org/drawingml/2006/main">
            <a:off x="5067300" y="3238500"/>
            <a:ext cx="1276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meds, falls, memory, goals</a:t>
            </a:r>
          </a:p>
        </p:txBody>
      </p:sp>
      <p:sp>
        <p:nvSpPr>
          <p:cNvPr id="20" name="">
            <a:extLst xmlns:a="http://schemas.openxmlformats.org/drawingml/2006/main">
              <a:ext uri="{FF2B5EF4-FFF2-40B4-BE49-F238E27FC236}">
                <a16:creationId xmlns:a16="http://schemas.microsoft.com/office/drawing/2014/main" id="{F53F7303-BA53-430B-98A1-9E2CAEA41E76}"/>
              </a:ext>
            </a:extLst>
          </p:cNvPr>
          <p:cNvSpPr>
            <a:spLocks xmlns:a="http://schemas.openxmlformats.org/drawingml/2006/main" noGrp="1"/>
          </p:cNvSpPr>
          <p:nvPr/>
        </p:nvSpPr>
        <p:spPr>
          <a:xfrm xmlns:a="http://schemas.openxmlformats.org/drawingml/2006/main">
            <a:off x="6515100" y="2933700"/>
            <a:ext cx="438150" cy="38100"/>
          </a:xfrm>
          <a:prstGeom xmlns:a="http://schemas.openxmlformats.org/drawingml/2006/main" prst="rect">
            <a:avLst/>
          </a:prstGeom>
          <a:solidFill xmlns:a="http://schemas.openxmlformats.org/drawingml/2006/main">
            <a:srgbClr val="D8D0C2"/>
          </a:solidFill>
          <a:ln xmlns:a="http://schemas.openxmlformats.org/drawingml/2006/main" w="0">
            <a:solidFill>
              <a:srgbClr val="D8D0C2"/>
            </a:solidFill>
            <a:prstDash val="solid"/>
          </a:ln>
        </p:spPr>
      </p:sp>
      <p:sp>
        <p:nvSpPr>
          <p:cNvPr id="21" name="">
            <a:extLst xmlns:a="http://schemas.openxmlformats.org/drawingml/2006/main">
              <a:ext uri="{FF2B5EF4-FFF2-40B4-BE49-F238E27FC236}">
                <a16:creationId xmlns:a16="http://schemas.microsoft.com/office/drawing/2014/main" id="{213A32ED-A0EC-4C45-ABCC-DB24D1C5D155}"/>
              </a:ext>
            </a:extLst>
          </p:cNvPr>
          <p:cNvSpPr>
            <a:spLocks xmlns:a="http://schemas.openxmlformats.org/drawingml/2006/main" noGrp="1"/>
          </p:cNvSpPr>
          <p:nvPr/>
        </p:nvSpPr>
        <p:spPr>
          <a:xfrm xmlns:a="http://schemas.openxmlformats.org/drawingml/2006/main">
            <a:off x="6953250" y="2190750"/>
            <a:ext cx="1619250" cy="1524000"/>
          </a:xfrm>
          <a:prstGeom xmlns:a="http://schemas.openxmlformats.org/drawingml/2006/main" prst="rect">
            <a:avLst/>
          </a:prstGeom>
          <a:solidFill xmlns:a="http://schemas.openxmlformats.org/drawingml/2006/main">
            <a:srgbClr val="FFFFFF"/>
          </a:solidFill>
          <a:ln xmlns:a="http://schemas.openxmlformats.org/drawingml/2006/main" w="28575">
            <a:solidFill>
              <a:srgbClr val="B85C38"/>
            </a:solidFill>
            <a:prstDash val="solid"/>
          </a:ln>
        </p:spPr>
      </p:sp>
      <p:sp>
        <p:nvSpPr>
          <p:cNvPr id="22" name="">
            <a:extLst xmlns:a="http://schemas.openxmlformats.org/drawingml/2006/main">
              <a:ext uri="{FF2B5EF4-FFF2-40B4-BE49-F238E27FC236}">
                <a16:creationId xmlns:a16="http://schemas.microsoft.com/office/drawing/2014/main" id="{64DCFE14-5251-4C0E-8752-19B7050296C7}"/>
              </a:ext>
            </a:extLst>
          </p:cNvPr>
          <p:cNvSpPr>
            <a:spLocks xmlns:a="http://schemas.openxmlformats.org/drawingml/2006/main" noGrp="1"/>
          </p:cNvSpPr>
          <p:nvPr/>
        </p:nvSpPr>
        <p:spPr>
          <a:xfrm xmlns:a="http://schemas.openxmlformats.org/drawingml/2006/main">
            <a:off x="7124700" y="2381250"/>
            <a:ext cx="400050" cy="400050"/>
          </a:xfrm>
          <a:prstGeom xmlns:a="http://schemas.openxmlformats.org/drawingml/2006/main" prst="rect">
            <a:avLst/>
          </a:prstGeom>
          <a:solidFill xmlns:a="http://schemas.openxmlformats.org/drawingml/2006/main">
            <a:srgbClr val="B85C38"/>
          </a:solidFill>
          <a:ln xmlns:a="http://schemas.openxmlformats.org/drawingml/2006/main" w="0">
            <a:solidFill>
              <a:srgbClr val="B85C38"/>
            </a:solidFill>
            <a:prstDash val="solid"/>
          </a:ln>
        </p:spPr>
      </p:sp>
      <p:sp>
        <p:nvSpPr>
          <p:cNvPr id="23" name="">
            <a:extLst xmlns:a="http://schemas.openxmlformats.org/drawingml/2006/main">
              <a:ext uri="{FF2B5EF4-FFF2-40B4-BE49-F238E27FC236}">
                <a16:creationId xmlns:a16="http://schemas.microsoft.com/office/drawing/2014/main" id="{20D526D7-C62F-4DBF-B88C-0764A383BD2E}"/>
              </a:ext>
            </a:extLst>
          </p:cNvPr>
          <p:cNvSpPr>
            <a:spLocks xmlns:a="http://schemas.openxmlformats.org/drawingml/2006/main" noGrp="1"/>
          </p:cNvSpPr>
          <p:nvPr/>
        </p:nvSpPr>
        <p:spPr>
          <a:xfrm xmlns:a="http://schemas.openxmlformats.org/drawingml/2006/main">
            <a:off x="7124700" y="2447925"/>
            <a:ext cx="400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B4B67163-D8C5-4B8F-B1D2-4D5F757F6B09}"/>
              </a:ext>
            </a:extLst>
          </p:cNvPr>
          <p:cNvSpPr>
            <a:spLocks xmlns:a="http://schemas.openxmlformats.org/drawingml/2006/main" noGrp="1"/>
          </p:cNvSpPr>
          <p:nvPr/>
        </p:nvSpPr>
        <p:spPr>
          <a:xfrm xmlns:a="http://schemas.openxmlformats.org/drawingml/2006/main">
            <a:off x="7124700" y="2952750"/>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B85C38"/>
                </a:solidFill>
                <a:latin typeface="Aptos"/>
                <a:ea typeface="Aptos"/>
                <a:cs typeface="Aptos"/>
              </a:defRPr>
            </a:pPr>
            <a:r>
              <a:rPr sz="1425" b="1">
                <a:solidFill>
                  <a:srgbClr val="B85C38"/>
                </a:solidFill>
                <a:latin typeface="Aptos"/>
                <a:ea typeface="Aptos"/>
                <a:cs typeface="Aptos"/>
              </a:rPr>
              <a:t>AI response</a:t>
            </a:r>
          </a:p>
        </p:txBody>
      </p:sp>
      <p:sp>
        <p:nvSpPr>
          <p:cNvPr id="25" name="">
            <a:extLst xmlns:a="http://schemas.openxmlformats.org/drawingml/2006/main">
              <a:ext uri="{FF2B5EF4-FFF2-40B4-BE49-F238E27FC236}">
                <a16:creationId xmlns:a16="http://schemas.microsoft.com/office/drawing/2014/main" id="{21ECD37A-55E8-43E6-AB46-5C998AC56AC7}"/>
              </a:ext>
            </a:extLst>
          </p:cNvPr>
          <p:cNvSpPr>
            <a:spLocks xmlns:a="http://schemas.openxmlformats.org/drawingml/2006/main" noGrp="1"/>
          </p:cNvSpPr>
          <p:nvPr/>
        </p:nvSpPr>
        <p:spPr>
          <a:xfrm xmlns:a="http://schemas.openxmlformats.org/drawingml/2006/main">
            <a:off x="7124700" y="3238500"/>
            <a:ext cx="1276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call current backend</a:t>
            </a:r>
          </a:p>
        </p:txBody>
      </p:sp>
      <p:sp>
        <p:nvSpPr>
          <p:cNvPr id="26" name="">
            <a:extLst xmlns:a="http://schemas.openxmlformats.org/drawingml/2006/main">
              <a:ext uri="{FF2B5EF4-FFF2-40B4-BE49-F238E27FC236}">
                <a16:creationId xmlns:a16="http://schemas.microsoft.com/office/drawing/2014/main" id="{7250162D-2C78-4EE4-B888-B82470C8E242}"/>
              </a:ext>
            </a:extLst>
          </p:cNvPr>
          <p:cNvSpPr>
            <a:spLocks xmlns:a="http://schemas.openxmlformats.org/drawingml/2006/main" noGrp="1"/>
          </p:cNvSpPr>
          <p:nvPr/>
        </p:nvSpPr>
        <p:spPr>
          <a:xfrm xmlns:a="http://schemas.openxmlformats.org/drawingml/2006/main">
            <a:off x="8572500" y="2933700"/>
            <a:ext cx="438150" cy="38100"/>
          </a:xfrm>
          <a:prstGeom xmlns:a="http://schemas.openxmlformats.org/drawingml/2006/main" prst="rect">
            <a:avLst/>
          </a:prstGeom>
          <a:solidFill xmlns:a="http://schemas.openxmlformats.org/drawingml/2006/main">
            <a:srgbClr val="D8D0C2"/>
          </a:solidFill>
          <a:ln xmlns:a="http://schemas.openxmlformats.org/drawingml/2006/main" w="0">
            <a:solidFill>
              <a:srgbClr val="D8D0C2"/>
            </a:solidFill>
            <a:prstDash val="solid"/>
          </a:ln>
        </p:spPr>
      </p:sp>
      <p:sp>
        <p:nvSpPr>
          <p:cNvPr id="27" name="">
            <a:extLst xmlns:a="http://schemas.openxmlformats.org/drawingml/2006/main">
              <a:ext uri="{FF2B5EF4-FFF2-40B4-BE49-F238E27FC236}">
                <a16:creationId xmlns:a16="http://schemas.microsoft.com/office/drawing/2014/main" id="{A21CA244-7EE1-424C-A339-AAAEEB8F6B87}"/>
              </a:ext>
            </a:extLst>
          </p:cNvPr>
          <p:cNvSpPr>
            <a:spLocks xmlns:a="http://schemas.openxmlformats.org/drawingml/2006/main" noGrp="1"/>
          </p:cNvSpPr>
          <p:nvPr/>
        </p:nvSpPr>
        <p:spPr>
          <a:xfrm xmlns:a="http://schemas.openxmlformats.org/drawingml/2006/main">
            <a:off x="9010650" y="2190750"/>
            <a:ext cx="1619250" cy="1524000"/>
          </a:xfrm>
          <a:prstGeom xmlns:a="http://schemas.openxmlformats.org/drawingml/2006/main" prst="rect">
            <a:avLst/>
          </a:prstGeom>
          <a:solidFill xmlns:a="http://schemas.openxmlformats.org/drawingml/2006/main">
            <a:srgbClr val="FFFFFF"/>
          </a:solidFill>
          <a:ln xmlns:a="http://schemas.openxmlformats.org/drawingml/2006/main" w="28575">
            <a:solidFill>
              <a:srgbClr val="285C7D"/>
            </a:solidFill>
            <a:prstDash val="solid"/>
          </a:ln>
        </p:spPr>
      </p:sp>
      <p:sp>
        <p:nvSpPr>
          <p:cNvPr id="28" name="">
            <a:extLst xmlns:a="http://schemas.openxmlformats.org/drawingml/2006/main">
              <a:ext uri="{FF2B5EF4-FFF2-40B4-BE49-F238E27FC236}">
                <a16:creationId xmlns:a16="http://schemas.microsoft.com/office/drawing/2014/main" id="{3609C7A4-4BCB-4A06-BC70-1E221C8F7374}"/>
              </a:ext>
            </a:extLst>
          </p:cNvPr>
          <p:cNvSpPr>
            <a:spLocks xmlns:a="http://schemas.openxmlformats.org/drawingml/2006/main" noGrp="1"/>
          </p:cNvSpPr>
          <p:nvPr/>
        </p:nvSpPr>
        <p:spPr>
          <a:xfrm xmlns:a="http://schemas.openxmlformats.org/drawingml/2006/main">
            <a:off x="9182100" y="2381250"/>
            <a:ext cx="400050" cy="400050"/>
          </a:xfrm>
          <a:prstGeom xmlns:a="http://schemas.openxmlformats.org/drawingml/2006/main" prst="rect">
            <a:avLst/>
          </a:prstGeom>
          <a:solidFill xmlns:a="http://schemas.openxmlformats.org/drawingml/2006/main">
            <a:srgbClr val="285C7D"/>
          </a:solidFill>
          <a:ln xmlns:a="http://schemas.openxmlformats.org/drawingml/2006/main" w="0">
            <a:solidFill>
              <a:srgbClr val="285C7D"/>
            </a:solidFill>
            <a:prstDash val="solid"/>
          </a:ln>
        </p:spPr>
      </p:sp>
      <p:sp>
        <p:nvSpPr>
          <p:cNvPr id="29" name="">
            <a:extLst xmlns:a="http://schemas.openxmlformats.org/drawingml/2006/main">
              <a:ext uri="{FF2B5EF4-FFF2-40B4-BE49-F238E27FC236}">
                <a16:creationId xmlns:a16="http://schemas.microsoft.com/office/drawing/2014/main" id="{E8C30781-A929-48C5-891C-2D773347A49E}"/>
              </a:ext>
            </a:extLst>
          </p:cNvPr>
          <p:cNvSpPr>
            <a:spLocks xmlns:a="http://schemas.openxmlformats.org/drawingml/2006/main" noGrp="1"/>
          </p:cNvSpPr>
          <p:nvPr/>
        </p:nvSpPr>
        <p:spPr>
          <a:xfrm xmlns:a="http://schemas.openxmlformats.org/drawingml/2006/main">
            <a:off x="9182100" y="2447925"/>
            <a:ext cx="400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5</a:t>
            </a:r>
          </a:p>
        </p:txBody>
      </p:sp>
      <p:sp>
        <p:nvSpPr>
          <p:cNvPr id="30" name="">
            <a:extLst xmlns:a="http://schemas.openxmlformats.org/drawingml/2006/main">
              <a:ext uri="{FF2B5EF4-FFF2-40B4-BE49-F238E27FC236}">
                <a16:creationId xmlns:a16="http://schemas.microsoft.com/office/drawing/2014/main" id="{C0602463-675F-41AA-ACD4-280EF536266E}"/>
              </a:ext>
            </a:extLst>
          </p:cNvPr>
          <p:cNvSpPr>
            <a:spLocks xmlns:a="http://schemas.openxmlformats.org/drawingml/2006/main" noGrp="1"/>
          </p:cNvSpPr>
          <p:nvPr/>
        </p:nvSpPr>
        <p:spPr>
          <a:xfrm xmlns:a="http://schemas.openxmlformats.org/drawingml/2006/main">
            <a:off x="9182100" y="2952750"/>
            <a:ext cx="1276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285C7D"/>
                </a:solidFill>
                <a:latin typeface="Aptos"/>
                <a:ea typeface="Aptos"/>
                <a:cs typeface="Aptos"/>
              </a:defRPr>
            </a:pPr>
            <a:r>
              <a:rPr sz="1425" b="1">
                <a:solidFill>
                  <a:srgbClr val="285C7D"/>
                </a:solidFill>
                <a:latin typeface="Aptos"/>
                <a:ea typeface="Aptos"/>
                <a:cs typeface="Aptos"/>
              </a:rPr>
              <a:t>Score</a:t>
            </a:r>
          </a:p>
        </p:txBody>
      </p:sp>
      <p:sp>
        <p:nvSpPr>
          <p:cNvPr id="31" name="">
            <a:extLst xmlns:a="http://schemas.openxmlformats.org/drawingml/2006/main">
              <a:ext uri="{FF2B5EF4-FFF2-40B4-BE49-F238E27FC236}">
                <a16:creationId xmlns:a16="http://schemas.microsoft.com/office/drawing/2014/main" id="{BF24DC07-B8CC-45A9-8FCD-5D85F71A8A4A}"/>
              </a:ext>
            </a:extLst>
          </p:cNvPr>
          <p:cNvSpPr>
            <a:spLocks xmlns:a="http://schemas.openxmlformats.org/drawingml/2006/main" noGrp="1"/>
          </p:cNvSpPr>
          <p:nvPr/>
        </p:nvSpPr>
        <p:spPr>
          <a:xfrm xmlns:a="http://schemas.openxmlformats.org/drawingml/2006/main">
            <a:off x="9182100" y="3238500"/>
            <a:ext cx="1276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safety, clarity, grounding</a:t>
            </a:r>
          </a:p>
        </p:txBody>
      </p:sp>
      <p:sp>
        <p:nvSpPr>
          <p:cNvPr id="32" name="">
            <a:extLst xmlns:a="http://schemas.openxmlformats.org/drawingml/2006/main">
              <a:ext uri="{FF2B5EF4-FFF2-40B4-BE49-F238E27FC236}">
                <a16:creationId xmlns:a16="http://schemas.microsoft.com/office/drawing/2014/main" id="{57648F44-AD85-440B-9A5E-7471442B8C06}"/>
              </a:ext>
            </a:extLst>
          </p:cNvPr>
          <p:cNvSpPr>
            <a:spLocks xmlns:a="http://schemas.openxmlformats.org/drawingml/2006/main" noGrp="1"/>
          </p:cNvSpPr>
          <p:nvPr/>
        </p:nvSpPr>
        <p:spPr>
          <a:xfrm xmlns:a="http://schemas.openxmlformats.org/drawingml/2006/main">
            <a:off x="1428750" y="4762500"/>
            <a:ext cx="8858250" cy="914400"/>
          </a:xfrm>
          <a:prstGeom xmlns:a="http://schemas.openxmlformats.org/drawingml/2006/main" prst="rect">
            <a:avLst/>
          </a:prstGeom>
          <a:solidFill xmlns:a="http://schemas.openxmlformats.org/drawingml/2006/main">
            <a:srgbClr val="EAF4F3"/>
          </a:solidFill>
          <a:ln xmlns:a="http://schemas.openxmlformats.org/drawingml/2006/main" w="19050">
            <a:solidFill>
              <a:srgbClr val="2F7D78"/>
            </a:solidFill>
            <a:prstDash val="solid"/>
          </a:ln>
        </p:spPr>
      </p:sp>
      <p:sp>
        <p:nvSpPr>
          <p:cNvPr id="33" name="">
            <a:extLst xmlns:a="http://schemas.openxmlformats.org/drawingml/2006/main">
              <a:ext uri="{FF2B5EF4-FFF2-40B4-BE49-F238E27FC236}">
                <a16:creationId xmlns:a16="http://schemas.microsoft.com/office/drawing/2014/main" id="{2DB73884-AABE-42E6-BBB2-59D1493EFDC6}"/>
              </a:ext>
            </a:extLst>
          </p:cNvPr>
          <p:cNvSpPr>
            <a:spLocks xmlns:a="http://schemas.openxmlformats.org/drawingml/2006/main" noGrp="1"/>
          </p:cNvSpPr>
          <p:nvPr/>
        </p:nvSpPr>
        <p:spPr>
          <a:xfrm xmlns:a="http://schemas.openxmlformats.org/drawingml/2006/main">
            <a:off x="1600200" y="4991100"/>
            <a:ext cx="8477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17212B"/>
                </a:solidFill>
                <a:latin typeface="Aptos"/>
                <a:ea typeface="Aptos"/>
                <a:cs typeface="Aptos"/>
              </a:defRPr>
            </a:pPr>
            <a:r>
              <a:rPr sz="1650" b="1">
                <a:solidFill>
                  <a:srgbClr val="17212B"/>
                </a:solidFill>
                <a:latin typeface="Aptos"/>
                <a:ea typeface="Aptos"/>
                <a:cs typeface="Aptos"/>
              </a:rPr>
              <a:t>Publishable result: where AI quality drops across realistic communication patterns.</a:t>
            </a:r>
          </a:p>
        </p:txBody>
      </p:sp>
      <p:sp>
        <p:nvSpPr>
          <p:cNvPr id="34" name="">
            <a:extLst xmlns:a="http://schemas.openxmlformats.org/drawingml/2006/main">
              <a:ext uri="{FF2B5EF4-FFF2-40B4-BE49-F238E27FC236}">
                <a16:creationId xmlns:a16="http://schemas.microsoft.com/office/drawing/2014/main" id="{47EBB23D-75F4-4048-BABA-096A528C3E29}"/>
              </a:ext>
            </a:extLst>
          </p:cNvPr>
          <p:cNvSpPr>
            <a:spLocks xmlns:a="http://schemas.openxmlformats.org/drawingml/2006/main" noGrp="1"/>
          </p:cNvSpPr>
          <p:nvPr/>
        </p:nvSpPr>
        <p:spPr>
          <a:xfrm xmlns:a="http://schemas.openxmlformats.org/drawingml/2006/main">
            <a:off x="1600200" y="5334000"/>
            <a:ext cx="847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5B6673"/>
                </a:solidFill>
                <a:latin typeface="Aptos"/>
                <a:ea typeface="Aptos"/>
                <a:cs typeface="Aptos"/>
              </a:defRPr>
            </a:pPr>
            <a:r>
              <a:rPr sz="1350" b="0">
                <a:solidFill>
                  <a:srgbClr val="5B6673"/>
                </a:solidFill>
                <a:latin typeface="Aptos"/>
                <a:ea typeface="Aptos"/>
                <a:cs typeface="Aptos"/>
              </a:rPr>
              <a:t>This is stronger than saying the app simply has AI support.</a:t>
            </a:r>
          </a:p>
        </p:txBody>
      </p:sp>
    </p:spTree>
    <p:extLst>
      <p:ext uri="{BB962C8B-B14F-4D97-AF65-F5344CB8AC3E}">
        <p14:creationId xmlns:p14="http://schemas.microsoft.com/office/powerpoint/2010/main" val="762595183"/>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761146-6B00-4C75-A2D3-CBBCE89BCA95}"/>
              </a:ext>
            </a:extLst>
          </p:cNvPr>
          <p:cNvSpPr>
            <a:spLocks xmlns:a="http://schemas.openxmlformats.org/drawingml/2006/main" noGrp="1"/>
          </p:cNvSpPr>
          <p:nvPr/>
        </p:nvSpPr>
        <p:spPr>
          <a:xfrm xmlns:a="http://schemas.openxmlformats.org/drawingml/2006/main">
            <a:off x="609600" y="41910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B85C38"/>
                </a:solidFill>
                <a:latin typeface="Aptos"/>
                <a:ea typeface="Aptos"/>
                <a:cs typeface="Aptos"/>
              </a:defRPr>
            </a:pPr>
            <a:r>
              <a:rPr sz="1050" b="1">
                <a:solidFill>
                  <a:srgbClr val="B85C38"/>
                </a:solidFill>
                <a:latin typeface="Aptos"/>
                <a:ea typeface="Aptos"/>
                <a:cs typeface="Aptos"/>
              </a:rPr>
              <a:t>RECOMMENDED PATH</a:t>
            </a:r>
          </a:p>
        </p:txBody>
      </p:sp>
      <p:sp>
        <p:nvSpPr>
          <p:cNvPr id="2" name="">
            <a:extLst xmlns:a="http://schemas.openxmlformats.org/drawingml/2006/main">
              <a:ext uri="{FF2B5EF4-FFF2-40B4-BE49-F238E27FC236}">
                <a16:creationId xmlns:a16="http://schemas.microsoft.com/office/drawing/2014/main" id="{CCF10F32-F6A5-4FF7-B5CD-CD9DEF60AEF3}"/>
              </a:ext>
            </a:extLst>
          </p:cNvPr>
          <p:cNvSpPr>
            <a:spLocks xmlns:a="http://schemas.openxmlformats.org/drawingml/2006/main" noGrp="1"/>
          </p:cNvSpPr>
          <p:nvPr/>
        </p:nvSpPr>
        <p:spPr>
          <a:xfrm xmlns:a="http://schemas.openxmlformats.org/drawingml/2006/main">
            <a:off x="609600" y="723900"/>
            <a:ext cx="8572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7212B"/>
                </a:solidFill>
                <a:latin typeface="Aptos Display"/>
                <a:ea typeface="Aptos Display"/>
                <a:cs typeface="Aptos Display"/>
              </a:defRPr>
            </a:pPr>
            <a:r>
              <a:rPr sz="2700" b="1">
                <a:solidFill>
                  <a:srgbClr val="17212B"/>
                </a:solidFill>
                <a:latin typeface="Aptos Display"/>
                <a:ea typeface="Aptos Display"/>
                <a:cs typeface="Aptos Display"/>
              </a:rPr>
              <a:t>Make the next paper about measured AI risk.</a:t>
            </a:r>
          </a:p>
        </p:txBody>
      </p:sp>
      <p:sp>
        <p:nvSpPr>
          <p:cNvPr id="3" name="">
            <a:extLst xmlns:a="http://schemas.openxmlformats.org/drawingml/2006/main">
              <a:ext uri="{FF2B5EF4-FFF2-40B4-BE49-F238E27FC236}">
                <a16:creationId xmlns:a16="http://schemas.microsoft.com/office/drawing/2014/main" id="{E0EBFD25-7F93-44A5-BD87-93FC8E5F97A1}"/>
              </a:ext>
            </a:extLst>
          </p:cNvPr>
          <p:cNvSpPr>
            <a:spLocks xmlns:a="http://schemas.openxmlformats.org/drawingml/2006/main" noGrp="1"/>
          </p:cNvSpPr>
          <p:nvPr/>
        </p:nvSpPr>
        <p:spPr>
          <a:xfrm xmlns:a="http://schemas.openxmlformats.org/drawingml/2006/main">
            <a:off x="876300" y="156210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5B6673"/>
                </a:solidFill>
                <a:latin typeface="Aptos"/>
                <a:ea typeface="Aptos"/>
                <a:cs typeface="Aptos"/>
              </a:defRPr>
            </a:pPr>
            <a:r>
              <a:rPr sz="1200" b="1">
                <a:solidFill>
                  <a:srgbClr val="5B6673"/>
                </a:solidFill>
                <a:latin typeface="Aptos"/>
                <a:ea typeface="Aptos"/>
                <a:cs typeface="Aptos"/>
              </a:rPr>
              <a:t>Short paper thesis</a:t>
            </a:r>
          </a:p>
        </p:txBody>
      </p:sp>
      <p:sp>
        <p:nvSpPr>
          <p:cNvPr id="4" name="">
            <a:extLst xmlns:a="http://schemas.openxmlformats.org/drawingml/2006/main">
              <a:ext uri="{FF2B5EF4-FFF2-40B4-BE49-F238E27FC236}">
                <a16:creationId xmlns:a16="http://schemas.microsoft.com/office/drawing/2014/main" id="{47965279-2A18-4877-9A3A-5D7E3034BA68}"/>
              </a:ext>
            </a:extLst>
          </p:cNvPr>
          <p:cNvSpPr>
            <a:spLocks xmlns:a="http://schemas.openxmlformats.org/drawingml/2006/main" noGrp="1"/>
          </p:cNvSpPr>
          <p:nvPr/>
        </p:nvSpPr>
        <p:spPr>
          <a:xfrm xmlns:a="http://schemas.openxmlformats.org/drawingml/2006/main">
            <a:off x="876300" y="1809750"/>
            <a:ext cx="9334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7212B"/>
                </a:solidFill>
                <a:latin typeface="Aptos"/>
                <a:ea typeface="Aptos"/>
                <a:cs typeface="Aptos"/>
              </a:defRPr>
            </a:pPr>
            <a:r>
              <a:rPr sz="1950" b="1">
                <a:solidFill>
                  <a:srgbClr val="17212B"/>
                </a:solidFill>
                <a:latin typeface="Aptos"/>
                <a:ea typeface="Aptos"/>
                <a:cs typeface="Aptos"/>
              </a:rPr>
              <a:t>A 4Ms app can be evaluated with simulated older-adult users before real-world deployment.</a:t>
            </a:r>
          </a:p>
        </p:txBody>
      </p:sp>
      <p:sp>
        <p:nvSpPr>
          <p:cNvPr id="5" name="">
            <a:extLst xmlns:a="http://schemas.openxmlformats.org/drawingml/2006/main">
              <a:ext uri="{FF2B5EF4-FFF2-40B4-BE49-F238E27FC236}">
                <a16:creationId xmlns:a16="http://schemas.microsoft.com/office/drawing/2014/main" id="{95600DA1-FDBB-4FE9-9B98-D609F62A4387}"/>
              </a:ext>
            </a:extLst>
          </p:cNvPr>
          <p:cNvSpPr>
            <a:spLocks xmlns:a="http://schemas.openxmlformats.org/drawingml/2006/main" noGrp="1"/>
          </p:cNvSpPr>
          <p:nvPr/>
        </p:nvSpPr>
        <p:spPr>
          <a:xfrm xmlns:a="http://schemas.openxmlformats.org/drawingml/2006/main">
            <a:off x="1066800" y="2971800"/>
            <a:ext cx="2381250" cy="1352550"/>
          </a:xfrm>
          <a:prstGeom xmlns:a="http://schemas.openxmlformats.org/drawingml/2006/main" prst="rect">
            <a:avLst/>
          </a:prstGeom>
          <a:solidFill xmlns:a="http://schemas.openxmlformats.org/drawingml/2006/main">
            <a:srgbClr val="FFFFFF"/>
          </a:solidFill>
          <a:ln xmlns:a="http://schemas.openxmlformats.org/drawingml/2006/main" w="28575">
            <a:solidFill>
              <a:srgbClr val="285C7D"/>
            </a:solidFill>
            <a:prstDash val="solid"/>
          </a:ln>
        </p:spPr>
      </p:sp>
      <p:sp>
        <p:nvSpPr>
          <p:cNvPr id="6" name="">
            <a:extLst xmlns:a="http://schemas.openxmlformats.org/drawingml/2006/main">
              <a:ext uri="{FF2B5EF4-FFF2-40B4-BE49-F238E27FC236}">
                <a16:creationId xmlns:a16="http://schemas.microsoft.com/office/drawing/2014/main" id="{76CF6FBD-A218-475B-B9D2-0273545244A2}"/>
              </a:ext>
            </a:extLst>
          </p:cNvPr>
          <p:cNvSpPr>
            <a:spLocks xmlns:a="http://schemas.openxmlformats.org/drawingml/2006/main" noGrp="1"/>
          </p:cNvSpPr>
          <p:nvPr/>
        </p:nvSpPr>
        <p:spPr>
          <a:xfrm xmlns:a="http://schemas.openxmlformats.org/drawingml/2006/main">
            <a:off x="1295400" y="2743200"/>
            <a:ext cx="342900" cy="342900"/>
          </a:xfrm>
          <a:prstGeom xmlns:a="http://schemas.openxmlformats.org/drawingml/2006/main" prst="rect">
            <a:avLst/>
          </a:prstGeom>
          <a:solidFill xmlns:a="http://schemas.openxmlformats.org/drawingml/2006/main">
            <a:srgbClr val="285C7D"/>
          </a:solidFill>
          <a:ln xmlns:a="http://schemas.openxmlformats.org/drawingml/2006/main" w="0">
            <a:solidFill>
              <a:srgbClr val="285C7D"/>
            </a:solidFill>
            <a:prstDash val="solid"/>
          </a:ln>
        </p:spPr>
      </p:sp>
      <p:sp>
        <p:nvSpPr>
          <p:cNvPr id="7" name="">
            <a:extLst xmlns:a="http://schemas.openxmlformats.org/drawingml/2006/main">
              <a:ext uri="{FF2B5EF4-FFF2-40B4-BE49-F238E27FC236}">
                <a16:creationId xmlns:a16="http://schemas.microsoft.com/office/drawing/2014/main" id="{3D2DABF5-E925-429A-891A-CE5E89C18026}"/>
              </a:ext>
            </a:extLst>
          </p:cNvPr>
          <p:cNvSpPr>
            <a:spLocks xmlns:a="http://schemas.openxmlformats.org/drawingml/2006/main" noGrp="1"/>
          </p:cNvSpPr>
          <p:nvPr/>
        </p:nvSpPr>
        <p:spPr>
          <a:xfrm xmlns:a="http://schemas.openxmlformats.org/drawingml/2006/main">
            <a:off x="1295400" y="3276600"/>
            <a:ext cx="1962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285C7D"/>
                </a:solidFill>
                <a:latin typeface="Aptos"/>
                <a:ea typeface="Aptos"/>
                <a:cs typeface="Aptos"/>
              </a:defRPr>
            </a:pPr>
            <a:r>
              <a:rPr sz="1725" b="1">
                <a:solidFill>
                  <a:srgbClr val="285C7D"/>
                </a:solidFill>
                <a:latin typeface="Aptos"/>
                <a:ea typeface="Aptos"/>
                <a:cs typeface="Aptos"/>
              </a:rPr>
              <a:t>Build</a:t>
            </a:r>
          </a:p>
        </p:txBody>
      </p:sp>
      <p:sp>
        <p:nvSpPr>
          <p:cNvPr id="8" name="">
            <a:extLst xmlns:a="http://schemas.openxmlformats.org/drawingml/2006/main">
              <a:ext uri="{FF2B5EF4-FFF2-40B4-BE49-F238E27FC236}">
                <a16:creationId xmlns:a16="http://schemas.microsoft.com/office/drawing/2014/main" id="{E145620F-516F-4DC0-BDBF-8BFD459AD5F6}"/>
              </a:ext>
            </a:extLst>
          </p:cNvPr>
          <p:cNvSpPr>
            <a:spLocks xmlns:a="http://schemas.openxmlformats.org/drawingml/2006/main" noGrp="1"/>
          </p:cNvSpPr>
          <p:nvPr/>
        </p:nvSpPr>
        <p:spPr>
          <a:xfrm xmlns:a="http://schemas.openxmlformats.org/drawingml/2006/main">
            <a:off x="1295400" y="3638550"/>
            <a:ext cx="1962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673"/>
                </a:solidFill>
                <a:latin typeface="Aptos"/>
                <a:ea typeface="Aptos"/>
                <a:cs typeface="Aptos"/>
              </a:defRPr>
            </a:pPr>
            <a:r>
              <a:rPr sz="1275" b="0">
                <a:solidFill>
                  <a:srgbClr val="5B6673"/>
                </a:solidFill>
                <a:latin typeface="Aptos"/>
                <a:ea typeface="Aptos"/>
                <a:cs typeface="Aptos"/>
              </a:rPr>
              <a:t>4Ms profile schema + simulated cases</a:t>
            </a:r>
          </a:p>
        </p:txBody>
      </p:sp>
      <p:sp>
        <p:nvSpPr>
          <p:cNvPr id="9" name="">
            <a:extLst xmlns:a="http://schemas.openxmlformats.org/drawingml/2006/main">
              <a:ext uri="{FF2B5EF4-FFF2-40B4-BE49-F238E27FC236}">
                <a16:creationId xmlns:a16="http://schemas.microsoft.com/office/drawing/2014/main" id="{BF5ED84F-50A1-465A-9C60-B6D93FBB9683}"/>
              </a:ext>
            </a:extLst>
          </p:cNvPr>
          <p:cNvSpPr>
            <a:spLocks xmlns:a="http://schemas.openxmlformats.org/drawingml/2006/main" noGrp="1"/>
          </p:cNvSpPr>
          <p:nvPr/>
        </p:nvSpPr>
        <p:spPr>
          <a:xfrm xmlns:a="http://schemas.openxmlformats.org/drawingml/2006/main">
            <a:off x="3714750" y="2971800"/>
            <a:ext cx="2381250" cy="1352550"/>
          </a:xfrm>
          <a:prstGeom xmlns:a="http://schemas.openxmlformats.org/drawingml/2006/main" prst="rect">
            <a:avLst/>
          </a:prstGeom>
          <a:solidFill xmlns:a="http://schemas.openxmlformats.org/drawingml/2006/main">
            <a:srgbClr val="FFFFFF"/>
          </a:solidFill>
          <a:ln xmlns:a="http://schemas.openxmlformats.org/drawingml/2006/main" w="28575">
            <a:solidFill>
              <a:srgbClr val="2F7D78"/>
            </a:solidFill>
            <a:prstDash val="solid"/>
          </a:ln>
        </p:spPr>
      </p:sp>
      <p:sp>
        <p:nvSpPr>
          <p:cNvPr id="10" name="">
            <a:extLst xmlns:a="http://schemas.openxmlformats.org/drawingml/2006/main">
              <a:ext uri="{FF2B5EF4-FFF2-40B4-BE49-F238E27FC236}">
                <a16:creationId xmlns:a16="http://schemas.microsoft.com/office/drawing/2014/main" id="{DA3A5DC5-9627-4A19-9764-53092E6F7471}"/>
              </a:ext>
            </a:extLst>
          </p:cNvPr>
          <p:cNvSpPr>
            <a:spLocks xmlns:a="http://schemas.openxmlformats.org/drawingml/2006/main" noGrp="1"/>
          </p:cNvSpPr>
          <p:nvPr/>
        </p:nvSpPr>
        <p:spPr>
          <a:xfrm xmlns:a="http://schemas.openxmlformats.org/drawingml/2006/main">
            <a:off x="3943350" y="2743200"/>
            <a:ext cx="342900" cy="342900"/>
          </a:xfrm>
          <a:prstGeom xmlns:a="http://schemas.openxmlformats.org/drawingml/2006/main" prst="rect">
            <a:avLst/>
          </a:prstGeom>
          <a:solidFill xmlns:a="http://schemas.openxmlformats.org/drawingml/2006/main">
            <a:srgbClr val="2F7D78"/>
          </a:solidFill>
          <a:ln xmlns:a="http://schemas.openxmlformats.org/drawingml/2006/main" w="0">
            <a:solidFill>
              <a:srgbClr val="2F7D78"/>
            </a:solidFill>
            <a:prstDash val="solid"/>
          </a:ln>
        </p:spPr>
      </p:sp>
      <p:sp>
        <p:nvSpPr>
          <p:cNvPr id="11" name="">
            <a:extLst xmlns:a="http://schemas.openxmlformats.org/drawingml/2006/main">
              <a:ext uri="{FF2B5EF4-FFF2-40B4-BE49-F238E27FC236}">
                <a16:creationId xmlns:a16="http://schemas.microsoft.com/office/drawing/2014/main" id="{51C5EF19-7E72-4C87-A150-196C957EDF53}"/>
              </a:ext>
            </a:extLst>
          </p:cNvPr>
          <p:cNvSpPr>
            <a:spLocks xmlns:a="http://schemas.openxmlformats.org/drawingml/2006/main" noGrp="1"/>
          </p:cNvSpPr>
          <p:nvPr/>
        </p:nvSpPr>
        <p:spPr>
          <a:xfrm xmlns:a="http://schemas.openxmlformats.org/drawingml/2006/main">
            <a:off x="3943350" y="3276600"/>
            <a:ext cx="1962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2F7D78"/>
                </a:solidFill>
                <a:latin typeface="Aptos"/>
                <a:ea typeface="Aptos"/>
                <a:cs typeface="Aptos"/>
              </a:defRPr>
            </a:pPr>
            <a:r>
              <a:rPr sz="1725" b="1">
                <a:solidFill>
                  <a:srgbClr val="2F7D78"/>
                </a:solidFill>
                <a:latin typeface="Aptos"/>
                <a:ea typeface="Aptos"/>
                <a:cs typeface="Aptos"/>
              </a:rPr>
              <a:t>Run</a:t>
            </a:r>
          </a:p>
        </p:txBody>
      </p:sp>
      <p:sp>
        <p:nvSpPr>
          <p:cNvPr id="12" name="">
            <a:extLst xmlns:a="http://schemas.openxmlformats.org/drawingml/2006/main">
              <a:ext uri="{FF2B5EF4-FFF2-40B4-BE49-F238E27FC236}">
                <a16:creationId xmlns:a16="http://schemas.microsoft.com/office/drawing/2014/main" id="{4E214459-5ABD-4A81-8402-888C49F2FFE8}"/>
              </a:ext>
            </a:extLst>
          </p:cNvPr>
          <p:cNvSpPr>
            <a:spLocks xmlns:a="http://schemas.openxmlformats.org/drawingml/2006/main" noGrp="1"/>
          </p:cNvSpPr>
          <p:nvPr/>
        </p:nvSpPr>
        <p:spPr>
          <a:xfrm xmlns:a="http://schemas.openxmlformats.org/drawingml/2006/main">
            <a:off x="3943350" y="3638550"/>
            <a:ext cx="1962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673"/>
                </a:solidFill>
                <a:latin typeface="Aptos"/>
                <a:ea typeface="Aptos"/>
                <a:cs typeface="Aptos"/>
              </a:defRPr>
            </a:pPr>
            <a:r>
              <a:rPr sz="1275" b="0">
                <a:solidFill>
                  <a:srgbClr val="5B6673"/>
                </a:solidFill>
                <a:latin typeface="Aptos"/>
                <a:ea typeface="Aptos"/>
                <a:cs typeface="Aptos"/>
              </a:rPr>
              <a:t>AI chat scenarios against backend</a:t>
            </a:r>
          </a:p>
        </p:txBody>
      </p:sp>
      <p:sp>
        <p:nvSpPr>
          <p:cNvPr id="13" name="">
            <a:extLst xmlns:a="http://schemas.openxmlformats.org/drawingml/2006/main">
              <a:ext uri="{FF2B5EF4-FFF2-40B4-BE49-F238E27FC236}">
                <a16:creationId xmlns:a16="http://schemas.microsoft.com/office/drawing/2014/main" id="{DA4F6456-1D72-4658-8E69-38A54C8B0431}"/>
              </a:ext>
            </a:extLst>
          </p:cNvPr>
          <p:cNvSpPr>
            <a:spLocks xmlns:a="http://schemas.openxmlformats.org/drawingml/2006/main" noGrp="1"/>
          </p:cNvSpPr>
          <p:nvPr/>
        </p:nvSpPr>
        <p:spPr>
          <a:xfrm xmlns:a="http://schemas.openxmlformats.org/drawingml/2006/main">
            <a:off x="6362700" y="2971800"/>
            <a:ext cx="2381250" cy="1352550"/>
          </a:xfrm>
          <a:prstGeom xmlns:a="http://schemas.openxmlformats.org/drawingml/2006/main" prst="rect">
            <a:avLst/>
          </a:prstGeom>
          <a:solidFill xmlns:a="http://schemas.openxmlformats.org/drawingml/2006/main">
            <a:srgbClr val="FFFFFF"/>
          </a:solidFill>
          <a:ln xmlns:a="http://schemas.openxmlformats.org/drawingml/2006/main" w="28575">
            <a:solidFill>
              <a:srgbClr val="D19A2A"/>
            </a:solidFill>
            <a:prstDash val="solid"/>
          </a:ln>
        </p:spPr>
      </p:sp>
      <p:sp>
        <p:nvSpPr>
          <p:cNvPr id="14" name="">
            <a:extLst xmlns:a="http://schemas.openxmlformats.org/drawingml/2006/main">
              <a:ext uri="{FF2B5EF4-FFF2-40B4-BE49-F238E27FC236}">
                <a16:creationId xmlns:a16="http://schemas.microsoft.com/office/drawing/2014/main" id="{B95925E5-CBB0-4257-B329-660F9FD6E215}"/>
              </a:ext>
            </a:extLst>
          </p:cNvPr>
          <p:cNvSpPr>
            <a:spLocks xmlns:a="http://schemas.openxmlformats.org/drawingml/2006/main" noGrp="1"/>
          </p:cNvSpPr>
          <p:nvPr/>
        </p:nvSpPr>
        <p:spPr>
          <a:xfrm xmlns:a="http://schemas.openxmlformats.org/drawingml/2006/main">
            <a:off x="6591300" y="2743200"/>
            <a:ext cx="342900" cy="342900"/>
          </a:xfrm>
          <a:prstGeom xmlns:a="http://schemas.openxmlformats.org/drawingml/2006/main" prst="rect">
            <a:avLst/>
          </a:prstGeom>
          <a:solidFill xmlns:a="http://schemas.openxmlformats.org/drawingml/2006/main">
            <a:srgbClr val="D19A2A"/>
          </a:solidFill>
          <a:ln xmlns:a="http://schemas.openxmlformats.org/drawingml/2006/main" w="0">
            <a:solidFill>
              <a:srgbClr val="D19A2A"/>
            </a:solidFill>
            <a:prstDash val="solid"/>
          </a:ln>
        </p:spPr>
      </p:sp>
      <p:sp>
        <p:nvSpPr>
          <p:cNvPr id="15" name="">
            <a:extLst xmlns:a="http://schemas.openxmlformats.org/drawingml/2006/main">
              <a:ext uri="{FF2B5EF4-FFF2-40B4-BE49-F238E27FC236}">
                <a16:creationId xmlns:a16="http://schemas.microsoft.com/office/drawing/2014/main" id="{A182CD41-1107-401D-AB32-0E2469FCC718}"/>
              </a:ext>
            </a:extLst>
          </p:cNvPr>
          <p:cNvSpPr>
            <a:spLocks xmlns:a="http://schemas.openxmlformats.org/drawingml/2006/main" noGrp="1"/>
          </p:cNvSpPr>
          <p:nvPr/>
        </p:nvSpPr>
        <p:spPr>
          <a:xfrm xmlns:a="http://schemas.openxmlformats.org/drawingml/2006/main">
            <a:off x="6591300" y="3276600"/>
            <a:ext cx="1962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D19A2A"/>
                </a:solidFill>
                <a:latin typeface="Aptos"/>
                <a:ea typeface="Aptos"/>
                <a:cs typeface="Aptos"/>
              </a:defRPr>
            </a:pPr>
            <a:r>
              <a:rPr sz="1725" b="1">
                <a:solidFill>
                  <a:srgbClr val="D19A2A"/>
                </a:solidFill>
                <a:latin typeface="Aptos"/>
                <a:ea typeface="Aptos"/>
                <a:cs typeface="Aptos"/>
              </a:rPr>
              <a:t>Score</a:t>
            </a:r>
          </a:p>
        </p:txBody>
      </p:sp>
      <p:sp>
        <p:nvSpPr>
          <p:cNvPr id="16" name="">
            <a:extLst xmlns:a="http://schemas.openxmlformats.org/drawingml/2006/main">
              <a:ext uri="{FF2B5EF4-FFF2-40B4-BE49-F238E27FC236}">
                <a16:creationId xmlns:a16="http://schemas.microsoft.com/office/drawing/2014/main" id="{7ACCCDE7-1AEB-4A82-B75A-254351DF3382}"/>
              </a:ext>
            </a:extLst>
          </p:cNvPr>
          <p:cNvSpPr>
            <a:spLocks xmlns:a="http://schemas.openxmlformats.org/drawingml/2006/main" noGrp="1"/>
          </p:cNvSpPr>
          <p:nvPr/>
        </p:nvSpPr>
        <p:spPr>
          <a:xfrm xmlns:a="http://schemas.openxmlformats.org/drawingml/2006/main">
            <a:off x="6591300" y="3638550"/>
            <a:ext cx="1962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673"/>
                </a:solidFill>
                <a:latin typeface="Aptos"/>
                <a:ea typeface="Aptos"/>
                <a:cs typeface="Aptos"/>
              </a:defRPr>
            </a:pPr>
            <a:r>
              <a:rPr sz="1275" b="0">
                <a:solidFill>
                  <a:srgbClr val="5B6673"/>
                </a:solidFill>
                <a:latin typeface="Aptos"/>
                <a:ea typeface="Aptos"/>
                <a:cs typeface="Aptos"/>
              </a:rPr>
              <a:t>rubric + human-reviewed subset</a:t>
            </a:r>
          </a:p>
        </p:txBody>
      </p:sp>
      <p:sp>
        <p:nvSpPr>
          <p:cNvPr id="17" name="">
            <a:extLst xmlns:a="http://schemas.openxmlformats.org/drawingml/2006/main">
              <a:ext uri="{FF2B5EF4-FFF2-40B4-BE49-F238E27FC236}">
                <a16:creationId xmlns:a16="http://schemas.microsoft.com/office/drawing/2014/main" id="{975EEE0E-2767-4CFA-A6E4-7A864001D34F}"/>
              </a:ext>
            </a:extLst>
          </p:cNvPr>
          <p:cNvSpPr>
            <a:spLocks xmlns:a="http://schemas.openxmlformats.org/drawingml/2006/main" noGrp="1"/>
          </p:cNvSpPr>
          <p:nvPr/>
        </p:nvSpPr>
        <p:spPr>
          <a:xfrm xmlns:a="http://schemas.openxmlformats.org/drawingml/2006/main">
            <a:off x="9010650" y="2971800"/>
            <a:ext cx="2381250" cy="1352550"/>
          </a:xfrm>
          <a:prstGeom xmlns:a="http://schemas.openxmlformats.org/drawingml/2006/main" prst="rect">
            <a:avLst/>
          </a:prstGeom>
          <a:solidFill xmlns:a="http://schemas.openxmlformats.org/drawingml/2006/main">
            <a:srgbClr val="FFFFFF"/>
          </a:solidFill>
          <a:ln xmlns:a="http://schemas.openxmlformats.org/drawingml/2006/main" w="28575">
            <a:solidFill>
              <a:srgbClr val="B85C38"/>
            </a:solidFill>
            <a:prstDash val="solid"/>
          </a:ln>
        </p:spPr>
      </p:sp>
      <p:sp>
        <p:nvSpPr>
          <p:cNvPr id="18" name="">
            <a:extLst xmlns:a="http://schemas.openxmlformats.org/drawingml/2006/main">
              <a:ext uri="{FF2B5EF4-FFF2-40B4-BE49-F238E27FC236}">
                <a16:creationId xmlns:a16="http://schemas.microsoft.com/office/drawing/2014/main" id="{5BFE145D-0A47-40E5-8EA7-1405CD302A9B}"/>
              </a:ext>
            </a:extLst>
          </p:cNvPr>
          <p:cNvSpPr>
            <a:spLocks xmlns:a="http://schemas.openxmlformats.org/drawingml/2006/main" noGrp="1"/>
          </p:cNvSpPr>
          <p:nvPr/>
        </p:nvSpPr>
        <p:spPr>
          <a:xfrm xmlns:a="http://schemas.openxmlformats.org/drawingml/2006/main">
            <a:off x="9239250" y="2743200"/>
            <a:ext cx="342900" cy="342900"/>
          </a:xfrm>
          <a:prstGeom xmlns:a="http://schemas.openxmlformats.org/drawingml/2006/main" prst="rect">
            <a:avLst/>
          </a:prstGeom>
          <a:solidFill xmlns:a="http://schemas.openxmlformats.org/drawingml/2006/main">
            <a:srgbClr val="B85C38"/>
          </a:solidFill>
          <a:ln xmlns:a="http://schemas.openxmlformats.org/drawingml/2006/main" w="0">
            <a:solidFill>
              <a:srgbClr val="B85C38"/>
            </a:solidFill>
            <a:prstDash val="solid"/>
          </a:ln>
        </p:spPr>
      </p:sp>
      <p:sp>
        <p:nvSpPr>
          <p:cNvPr id="19" name="">
            <a:extLst xmlns:a="http://schemas.openxmlformats.org/drawingml/2006/main">
              <a:ext uri="{FF2B5EF4-FFF2-40B4-BE49-F238E27FC236}">
                <a16:creationId xmlns:a16="http://schemas.microsoft.com/office/drawing/2014/main" id="{431FE3EC-DFBB-4EB7-AF32-41169B2D74D1}"/>
              </a:ext>
            </a:extLst>
          </p:cNvPr>
          <p:cNvSpPr>
            <a:spLocks xmlns:a="http://schemas.openxmlformats.org/drawingml/2006/main" noGrp="1"/>
          </p:cNvSpPr>
          <p:nvPr/>
        </p:nvSpPr>
        <p:spPr>
          <a:xfrm xmlns:a="http://schemas.openxmlformats.org/drawingml/2006/main">
            <a:off x="9239250" y="3276600"/>
            <a:ext cx="1962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B85C38"/>
                </a:solidFill>
                <a:latin typeface="Aptos"/>
                <a:ea typeface="Aptos"/>
                <a:cs typeface="Aptos"/>
              </a:defRPr>
            </a:pPr>
            <a:r>
              <a:rPr sz="1725" b="1">
                <a:solidFill>
                  <a:srgbClr val="B85C38"/>
                </a:solidFill>
                <a:latin typeface="Aptos"/>
                <a:ea typeface="Aptos"/>
                <a:cs typeface="Aptos"/>
              </a:rPr>
              <a:t>Validate</a:t>
            </a:r>
          </a:p>
        </p:txBody>
      </p:sp>
      <p:sp>
        <p:nvSpPr>
          <p:cNvPr id="20" name="">
            <a:extLst xmlns:a="http://schemas.openxmlformats.org/drawingml/2006/main">
              <a:ext uri="{FF2B5EF4-FFF2-40B4-BE49-F238E27FC236}">
                <a16:creationId xmlns:a16="http://schemas.microsoft.com/office/drawing/2014/main" id="{590FFDAB-7956-4B5B-A402-ADC731629503}"/>
              </a:ext>
            </a:extLst>
          </p:cNvPr>
          <p:cNvSpPr>
            <a:spLocks xmlns:a="http://schemas.openxmlformats.org/drawingml/2006/main" noGrp="1"/>
          </p:cNvSpPr>
          <p:nvPr/>
        </p:nvSpPr>
        <p:spPr>
          <a:xfrm xmlns:a="http://schemas.openxmlformats.org/drawingml/2006/main">
            <a:off x="9239250" y="3638550"/>
            <a:ext cx="1962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B6673"/>
                </a:solidFill>
                <a:latin typeface="Aptos"/>
                <a:ea typeface="Aptos"/>
                <a:cs typeface="Aptos"/>
              </a:defRPr>
            </a:pPr>
            <a:r>
              <a:rPr sz="1275" b="0">
                <a:solidFill>
                  <a:srgbClr val="5B6673"/>
                </a:solidFill>
                <a:latin typeface="Aptos"/>
                <a:ea typeface="Aptos"/>
                <a:cs typeface="Aptos"/>
              </a:rPr>
              <a:t>small older-adult usability study</a:t>
            </a:r>
          </a:p>
        </p:txBody>
      </p:sp>
      <p:sp>
        <p:nvSpPr>
          <p:cNvPr id="21" name="">
            <a:extLst xmlns:a="http://schemas.openxmlformats.org/drawingml/2006/main">
              <a:ext uri="{FF2B5EF4-FFF2-40B4-BE49-F238E27FC236}">
                <a16:creationId xmlns:a16="http://schemas.microsoft.com/office/drawing/2014/main" id="{1F13AED2-9D37-4843-AECF-DCAC208B66A8}"/>
              </a:ext>
            </a:extLst>
          </p:cNvPr>
          <p:cNvSpPr>
            <a:spLocks xmlns:a="http://schemas.openxmlformats.org/drawingml/2006/main" noGrp="1"/>
          </p:cNvSpPr>
          <p:nvPr/>
        </p:nvSpPr>
        <p:spPr>
          <a:xfrm xmlns:a="http://schemas.openxmlformats.org/drawingml/2006/main">
            <a:off x="1371600" y="5391150"/>
            <a:ext cx="876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17212B"/>
                </a:solidFill>
                <a:latin typeface="Aptos"/>
                <a:ea typeface="Aptos"/>
                <a:cs typeface="Aptos"/>
              </a:defRPr>
            </a:pPr>
            <a:r>
              <a:rPr sz="1800" b="1">
                <a:solidFill>
                  <a:srgbClr val="17212B"/>
                </a:solidFill>
                <a:latin typeface="Aptos"/>
                <a:ea typeface="Aptos"/>
                <a:cs typeface="Aptos"/>
              </a:rPr>
              <a:t>Closest prior work: Paper 1. Selective support: Papers 2-3.</a:t>
            </a:r>
          </a:p>
        </p:txBody>
      </p:sp>
      <p:sp>
        <p:nvSpPr>
          <p:cNvPr id="22" name="">
            <a:extLst xmlns:a="http://schemas.openxmlformats.org/drawingml/2006/main">
              <a:ext uri="{FF2B5EF4-FFF2-40B4-BE49-F238E27FC236}">
                <a16:creationId xmlns:a16="http://schemas.microsoft.com/office/drawing/2014/main" id="{1419D989-4D5D-4355-8013-4DAC492AE6BD}"/>
              </a:ext>
            </a:extLst>
          </p:cNvPr>
          <p:cNvSpPr>
            <a:spLocks xmlns:a="http://schemas.openxmlformats.org/drawingml/2006/main" noGrp="1"/>
          </p:cNvSpPr>
          <p:nvPr/>
        </p:nvSpPr>
        <p:spPr>
          <a:xfrm xmlns:a="http://schemas.openxmlformats.org/drawingml/2006/main">
            <a:off x="1371600" y="5791200"/>
            <a:ext cx="876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0">
                <a:solidFill>
                  <a:srgbClr val="5B6673"/>
                </a:solidFill>
                <a:latin typeface="Aptos"/>
                <a:ea typeface="Aptos"/>
                <a:cs typeface="Aptos"/>
              </a:defRPr>
            </a:pPr>
            <a:r>
              <a:rPr sz="1500" b="0">
                <a:solidFill>
                  <a:srgbClr val="5B6673"/>
                </a:solidFill>
                <a:latin typeface="Aptos"/>
                <a:ea typeface="Aptos"/>
                <a:cs typeface="Aptos"/>
              </a:rPr>
              <a:t>Avoid: diagnostic, treatment-effect, or full caregiver-coordination claims.</a:t>
            </a:r>
          </a:p>
        </p:txBody>
      </p:sp>
    </p:spTree>
    <p:extLst>
      <p:ext uri="{BB962C8B-B14F-4D97-AF65-F5344CB8AC3E}">
        <p14:creationId xmlns:p14="http://schemas.microsoft.com/office/powerpoint/2010/main" val="14195717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2026-06-02T18:52:25.8400000Z</dcterms:created>
  <dcterms:modified xsi:type="dcterms:W3CDTF">2026-06-02T18:52:25.8400000Z</dcterms:modified>
</coreProperties>
</file>